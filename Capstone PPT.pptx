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4"/>
  </p:notesMasterIdLst>
  <p:sldIdLst>
    <p:sldId id="256" r:id="rId2"/>
    <p:sldId id="716" r:id="rId3"/>
    <p:sldId id="714" r:id="rId4"/>
    <p:sldId id="717" r:id="rId5"/>
    <p:sldId id="718" r:id="rId6"/>
    <p:sldId id="715" r:id="rId7"/>
    <p:sldId id="674" r:id="rId8"/>
    <p:sldId id="713" r:id="rId9"/>
    <p:sldId id="719" r:id="rId10"/>
    <p:sldId id="720" r:id="rId11"/>
    <p:sldId id="721" r:id="rId12"/>
    <p:sldId id="722" r:id="rId13"/>
    <p:sldId id="723" r:id="rId14"/>
    <p:sldId id="724" r:id="rId15"/>
    <p:sldId id="725" r:id="rId16"/>
    <p:sldId id="726" r:id="rId17"/>
    <p:sldId id="727" r:id="rId18"/>
    <p:sldId id="728" r:id="rId19"/>
    <p:sldId id="729" r:id="rId20"/>
    <p:sldId id="730" r:id="rId21"/>
    <p:sldId id="711"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6CC7"/>
    <a:srgbClr val="FFFFFF"/>
    <a:srgbClr val="161A3E"/>
    <a:srgbClr val="8497B0"/>
    <a:srgbClr val="323B8D"/>
    <a:srgbClr val="333F50"/>
    <a:srgbClr val="8FAADC"/>
    <a:srgbClr val="2F5597"/>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98" d="100"/>
          <a:sy n="98" d="100"/>
        </p:scale>
        <p:origin x="936" y="9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1_1" csCatId="accent1" phldr="1"/>
      <dgm:spPr/>
      <dgm:t>
        <a:bodyPr/>
        <a:lstStyle/>
        <a:p>
          <a:endParaRPr lang="en-US"/>
        </a:p>
      </dgm:t>
    </dgm:pt>
    <dgm:pt modelId="{A8C03FBB-4A75-4460-AEA6-DEAEB9C61496}">
      <dgm:prSet phldrT="[Text]" phldr="0"/>
      <dgm:spPr/>
      <dgm:t>
        <a:bodyPr/>
        <a:lstStyle/>
        <a:p>
          <a:pPr>
            <a:defRPr b="1"/>
          </a:pPr>
          <a:r>
            <a:rPr lang="en-US" dirty="0">
              <a:latin typeface="+mn-lt"/>
            </a:rPr>
            <a:t>S3</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r>
            <a:rPr lang="en-US" sz="1800" dirty="0">
              <a:latin typeface="+mn-lt"/>
            </a:rPr>
            <a:t>Convert date fields to datetime format.</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latin typeface="+mn-lt"/>
            </a:rPr>
            <a:t>S4</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IN" sz="1800" dirty="0">
              <a:latin typeface="+mn-lt"/>
            </a:rPr>
            <a:t>Remove duplicate entries.</a:t>
          </a:r>
          <a:endParaRPr lang="en-US" sz="180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latin typeface="+mn-lt"/>
            </a:rPr>
            <a:t>S1</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r>
            <a:rPr lang="en-US" sz="1800" dirty="0">
              <a:latin typeface="+mn-lt"/>
            </a:rPr>
            <a:t>Handle missing values and outliers.</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defRPr b="1"/>
          </a:pPr>
          <a:r>
            <a:rPr lang="en-US" dirty="0">
              <a:latin typeface="+mn-lt"/>
            </a:rPr>
            <a:t>S2</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r>
            <a:rPr lang="en-IN" sz="1800" dirty="0">
              <a:latin typeface="+mn-lt"/>
            </a:rPr>
            <a:t>Standardize / normalize data.</a:t>
          </a:r>
          <a:endParaRPr lang="en-US" sz="1800" dirty="0">
            <a:latin typeface="+mn-lt"/>
          </a:endParaRP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custLinFactX="32226" custLinFactNeighborX="100000" custLinFactNeighborY="-7655">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custLinFactX="17968" custLinFactNeighborX="100000" custLinFactNeighborY="-10589"/>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1">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custLinFactNeighborX="0" custLinFactNeighborY="28836"/>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custLinFactX="29789" custLinFactNeighborX="100000" custLinFactNeighborY="2599">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custLinFactX="11533" custLinFactNeighborX="100000"/>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1">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custLinFactX="-33245" custLinFactNeighborX="-100000" custLinFactNeighborY="7655">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custLinFactX="-13937" custLinFactNeighborX="-100000" custLinFactNeighborY="-5295"/>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1">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custLinFactX="-30908" custLinFactNeighborX="-100000" custLinFactNeighborY="21372">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custLinFactX="-15287" custLinFactNeighborX="-100000" custLinFactNeighborY="1775"/>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1">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3728488" y="1994560"/>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latin typeface="+mn-lt"/>
            </a:rPr>
            <a:t>S3</a:t>
          </a:r>
        </a:p>
      </dsp:txBody>
      <dsp:txXfrm>
        <a:off x="3728488" y="1994560"/>
        <a:ext cx="2679725" cy="426583"/>
      </dsp:txXfrm>
    </dsp:sp>
    <dsp:sp modelId="{BA29120C-7C6B-4F62-9079-4AD528BC0744}">
      <dsp:nvSpPr>
        <dsp:cNvPr id="0" name=""/>
        <dsp:cNvSpPr/>
      </dsp:nvSpPr>
      <dsp:spPr>
        <a:xfrm>
          <a:off x="3594780" y="147051"/>
          <a:ext cx="3045142" cy="925247"/>
        </a:xfrm>
        <a:prstGeom prst="round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Convert date fields to datetime format.</a:t>
          </a:r>
        </a:p>
      </dsp:txBody>
      <dsp:txXfrm>
        <a:off x="3639947" y="192218"/>
        <a:ext cx="2954808" cy="834913"/>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5429366" y="1332363"/>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latin typeface="+mn-lt"/>
            </a:rPr>
            <a:t>S4</a:t>
          </a:r>
        </a:p>
      </dsp:txBody>
      <dsp:txXfrm>
        <a:off x="5429366" y="1332363"/>
        <a:ext cx="2679725" cy="426583"/>
      </dsp:txXfrm>
    </dsp:sp>
    <dsp:sp modelId="{FA19A0AA-8B0B-4AA8-A80D-08CFFDD3F112}">
      <dsp:nvSpPr>
        <dsp:cNvPr id="0" name=""/>
        <dsp:cNvSpPr/>
      </dsp:nvSpPr>
      <dsp:spPr>
        <a:xfrm>
          <a:off x="1496744" y="1875553"/>
          <a:ext cx="56626" cy="56626"/>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5165007" y="2604801"/>
          <a:ext cx="3045142" cy="643650"/>
        </a:xfrm>
        <a:prstGeom prst="round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IN" sz="1800" kern="1200" dirty="0">
              <a:latin typeface="+mn-lt"/>
            </a:rPr>
            <a:t>Remove duplicate entries.</a:t>
          </a:r>
          <a:endParaRPr lang="en-US" sz="1800" kern="1200" dirty="0">
            <a:latin typeface="+mn-lt"/>
          </a:endParaRPr>
        </a:p>
      </dsp:txBody>
      <dsp:txXfrm>
        <a:off x="5196427"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146960" y="2059870"/>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latin typeface="+mn-lt"/>
            </a:rPr>
            <a:t>S1</a:t>
          </a:r>
        </a:p>
      </dsp:txBody>
      <dsp:txXfrm>
        <a:off x="146960" y="2059870"/>
        <a:ext cx="2679725" cy="426583"/>
      </dsp:txXfrm>
    </dsp:sp>
    <dsp:sp modelId="{0F979253-FD39-4920-BFCA-78C564B167EA}">
      <dsp:nvSpPr>
        <dsp:cNvPr id="0" name=""/>
        <dsp:cNvSpPr/>
      </dsp:nvSpPr>
      <dsp:spPr>
        <a:xfrm>
          <a:off x="3262927" y="1859224"/>
          <a:ext cx="56626" cy="56626"/>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65307" y="196034"/>
          <a:ext cx="3045142" cy="925247"/>
        </a:xfrm>
        <a:prstGeom prst="round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Handle missing values and outliers.</a:t>
          </a:r>
        </a:p>
      </dsp:txBody>
      <dsp:txXfrm>
        <a:off x="110474" y="241201"/>
        <a:ext cx="2954808" cy="834913"/>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1975768" y="141244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latin typeface="+mn-lt"/>
            </a:rPr>
            <a:t>S2</a:t>
          </a:r>
        </a:p>
      </dsp:txBody>
      <dsp:txXfrm>
        <a:off x="1975768" y="1412445"/>
        <a:ext cx="2679725" cy="426583"/>
      </dsp:txXfrm>
    </dsp:sp>
    <dsp:sp modelId="{B6459BF8-D2C3-4018-9C28-98667DC203F4}">
      <dsp:nvSpPr>
        <dsp:cNvPr id="0" name=""/>
        <dsp:cNvSpPr/>
      </dsp:nvSpPr>
      <dsp:spPr>
        <a:xfrm>
          <a:off x="5029109" y="1859224"/>
          <a:ext cx="56626" cy="56626"/>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1790381" y="2621224"/>
          <a:ext cx="3045142" cy="925247"/>
        </a:xfrm>
        <a:prstGeom prst="round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IN" sz="1800" kern="1200" dirty="0">
              <a:latin typeface="+mn-lt"/>
            </a:rPr>
            <a:t>Standardize / normalize data.</a:t>
          </a:r>
          <a:endParaRPr lang="en-US" sz="1800" kern="1200" dirty="0">
            <a:latin typeface="+mn-lt"/>
          </a:endParaRPr>
        </a:p>
      </dsp:txBody>
      <dsp:txXfrm>
        <a:off x="1835548" y="2666391"/>
        <a:ext cx="2954808" cy="834913"/>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25-12-2025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2865665"/>
            <a:ext cx="12192000" cy="14532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spc="50" dirty="0">
                <a:ln w="9525" cmpd="sng">
                  <a:solidFill>
                    <a:schemeClr val="accent1"/>
                  </a:solidFill>
                  <a:prstDash val="solid"/>
                </a:ln>
                <a:solidFill>
                  <a:schemeClr val="bg2"/>
                </a:solidFill>
                <a:effectLst>
                  <a:glow rad="38100">
                    <a:schemeClr val="accent1">
                      <a:alpha val="40000"/>
                    </a:schemeClr>
                  </a:glow>
                </a:effectLst>
                <a:latin typeface="Times New Roman" panose="02020603050405020304" pitchFamily="18" charset="0"/>
                <a:cs typeface="Times New Roman" panose="02020603050405020304" pitchFamily="18" charset="0"/>
              </a:rPr>
              <a:t>E-Commerce Customer Segmentation &amp; </a:t>
            </a:r>
          </a:p>
          <a:p>
            <a:pPr algn="ctr"/>
            <a:r>
              <a:rPr lang="en-US" sz="4400" b="1" spc="50" dirty="0">
                <a:ln w="9525" cmpd="sng">
                  <a:solidFill>
                    <a:schemeClr val="accent1"/>
                  </a:solidFill>
                  <a:prstDash val="solid"/>
                </a:ln>
                <a:solidFill>
                  <a:schemeClr val="bg2"/>
                </a:solidFill>
                <a:effectLst>
                  <a:glow rad="38100">
                    <a:schemeClr val="accent1">
                      <a:alpha val="40000"/>
                    </a:schemeClr>
                  </a:glow>
                </a:effectLst>
                <a:latin typeface="Times New Roman" panose="02020603050405020304" pitchFamily="18" charset="0"/>
                <a:cs typeface="Times New Roman" panose="02020603050405020304" pitchFamily="18" charset="0"/>
              </a:rPr>
              <a:t>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72EDE-0E6B-931F-EDD1-B41BD776AD37}"/>
              </a:ext>
            </a:extLst>
          </p:cNvPr>
          <p:cNvSpPr>
            <a:spLocks noGrp="1"/>
          </p:cNvSpPr>
          <p:nvPr>
            <p:ph type="title"/>
          </p:nvPr>
        </p:nvSpPr>
        <p:spPr>
          <a:xfrm>
            <a:off x="440871" y="571499"/>
            <a:ext cx="5470072" cy="1420585"/>
          </a:xfrm>
        </p:spPr>
        <p:txBody>
          <a:bodyPr>
            <a:normAutofit/>
          </a:bodyPr>
          <a:lstStyle/>
          <a:p>
            <a:r>
              <a:rPr lang="en-US" sz="2700" dirty="0">
                <a:solidFill>
                  <a:srgbClr val="1C1A55"/>
                </a:solidFill>
                <a:latin typeface="Rockwell" panose="02060603020205020403" pitchFamily="18" charset="0"/>
              </a:rPr>
              <a:t>E-commerce Customer Segmentation and Prediction</a:t>
            </a:r>
            <a:br>
              <a:rPr lang="en-IN" dirty="0">
                <a:solidFill>
                  <a:srgbClr val="1C1A55"/>
                </a:solidFill>
                <a:latin typeface="Rockwell" panose="02060603020205020403" pitchFamily="18" charset="0"/>
              </a:rPr>
            </a:br>
            <a:endParaRPr lang="en-IN" dirty="0"/>
          </a:p>
        </p:txBody>
      </p:sp>
      <p:sp>
        <p:nvSpPr>
          <p:cNvPr id="4" name="Text Placeholder 3">
            <a:extLst>
              <a:ext uri="{FF2B5EF4-FFF2-40B4-BE49-F238E27FC236}">
                <a16:creationId xmlns:a16="http://schemas.microsoft.com/office/drawing/2014/main" id="{93CFF405-B133-C242-49A4-C4EAE5CB5EAA}"/>
              </a:ext>
            </a:extLst>
          </p:cNvPr>
          <p:cNvSpPr>
            <a:spLocks noGrp="1"/>
          </p:cNvSpPr>
          <p:nvPr>
            <p:ph type="body" sz="half" idx="2"/>
          </p:nvPr>
        </p:nvSpPr>
        <p:spPr>
          <a:xfrm>
            <a:off x="440871" y="2057401"/>
            <a:ext cx="5470072" cy="3811588"/>
          </a:xfrm>
        </p:spPr>
        <p:txBody>
          <a:bodyPr/>
          <a:lstStyle/>
          <a:p>
            <a:pPr marL="342900" indent="-342900">
              <a:lnSpc>
                <a:spcPct val="100000"/>
              </a:lnSpc>
              <a:buFont typeface="Wingdings" panose="05000000000000000000" pitchFamily="2" charset="2"/>
              <a:buChar char="q"/>
            </a:pPr>
            <a:r>
              <a:rPr lang="en-US" sz="2000" b="1" dirty="0">
                <a:solidFill>
                  <a:schemeClr val="accent1">
                    <a:lumMod val="50000"/>
                  </a:schemeClr>
                </a:solidFill>
                <a:latin typeface="Rockwell" panose="02060603020205020403" pitchFamily="18" charset="0"/>
              </a:rPr>
              <a:t>“ In the </a:t>
            </a:r>
            <a:r>
              <a:rPr lang="en-US" sz="2000" b="1" dirty="0">
                <a:solidFill>
                  <a:schemeClr val="accent2">
                    <a:lumMod val="75000"/>
                  </a:schemeClr>
                </a:solidFill>
                <a:latin typeface="Rockwell" panose="02060603020205020403" pitchFamily="18" charset="0"/>
              </a:rPr>
              <a:t>e-commerce domain, </a:t>
            </a:r>
            <a:r>
              <a:rPr lang="en-US" sz="2000" b="1" dirty="0">
                <a:solidFill>
                  <a:schemeClr val="accent1">
                    <a:lumMod val="50000"/>
                  </a:schemeClr>
                </a:solidFill>
                <a:latin typeface="Rockwell" panose="02060603020205020403" pitchFamily="18" charset="0"/>
              </a:rPr>
              <a:t>this project uses machine learning to segment customers and predict churn through RFM analysis and clustering. By identifying key customer behaviors, it aims to enhance engagement, improve retention, and </a:t>
            </a:r>
            <a:r>
              <a:rPr lang="en-US" sz="2000" b="1" dirty="0">
                <a:solidFill>
                  <a:srgbClr val="00B050"/>
                </a:solidFill>
                <a:latin typeface="Rockwell" panose="02060603020205020403" pitchFamily="18" charset="0"/>
              </a:rPr>
              <a:t>boost profitability, </a:t>
            </a:r>
            <a:r>
              <a:rPr lang="en-US" sz="2000" b="1" dirty="0">
                <a:solidFill>
                  <a:schemeClr val="accent1">
                    <a:lumMod val="50000"/>
                  </a:schemeClr>
                </a:solidFill>
                <a:latin typeface="Rockwell" panose="02060603020205020403" pitchFamily="18" charset="0"/>
              </a:rPr>
              <a:t>enabling data-driven strategies for sustained business growth. "</a:t>
            </a:r>
            <a:endParaRPr lang="en-IN" sz="2000" dirty="0">
              <a:latin typeface="Rockwell" panose="02060603020205020403" pitchFamily="18" charset="0"/>
            </a:endParaRPr>
          </a:p>
          <a:p>
            <a:endParaRPr lang="en-IN" dirty="0"/>
          </a:p>
        </p:txBody>
      </p:sp>
      <p:pic>
        <p:nvPicPr>
          <p:cNvPr id="5" name="Content Placeholder 4">
            <a:extLst>
              <a:ext uri="{FF2B5EF4-FFF2-40B4-BE49-F238E27FC236}">
                <a16:creationId xmlns:a16="http://schemas.microsoft.com/office/drawing/2014/main" id="{BBE2D2C6-F705-8234-BA24-BC594A65EB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77363" y="571499"/>
            <a:ext cx="4347197" cy="4425043"/>
          </a:xfrm>
          <a:prstGeom prst="rect">
            <a:avLst/>
          </a:prstGeom>
        </p:spPr>
      </p:pic>
      <p:sp>
        <p:nvSpPr>
          <p:cNvPr id="6" name="TextBox 5">
            <a:extLst>
              <a:ext uri="{FF2B5EF4-FFF2-40B4-BE49-F238E27FC236}">
                <a16:creationId xmlns:a16="http://schemas.microsoft.com/office/drawing/2014/main" id="{131E887A-F34F-5660-FA18-4B408ABF691B}"/>
              </a:ext>
            </a:extLst>
          </p:cNvPr>
          <p:cNvSpPr txBox="1"/>
          <p:nvPr/>
        </p:nvSpPr>
        <p:spPr>
          <a:xfrm>
            <a:off x="7690758" y="5352700"/>
            <a:ext cx="3603172" cy="369332"/>
          </a:xfrm>
          <a:prstGeom prst="rect">
            <a:avLst/>
          </a:prstGeom>
          <a:noFill/>
        </p:spPr>
        <p:txBody>
          <a:bodyPr wrap="square" rtlCol="0">
            <a:spAutoFit/>
          </a:bodyPr>
          <a:lstStyle/>
          <a:p>
            <a:r>
              <a:rPr lang="en-US" b="1" dirty="0">
                <a:solidFill>
                  <a:schemeClr val="bg2">
                    <a:lumMod val="10000"/>
                  </a:schemeClr>
                </a:solidFill>
              </a:rPr>
              <a:t>Presented By – Raghav P. </a:t>
            </a:r>
            <a:r>
              <a:rPr lang="en-US" b="1" dirty="0" err="1">
                <a:solidFill>
                  <a:schemeClr val="bg2">
                    <a:lumMod val="10000"/>
                  </a:schemeClr>
                </a:solidFill>
              </a:rPr>
              <a:t>Bhadada</a:t>
            </a:r>
            <a:endParaRPr lang="en-IN" b="1" dirty="0">
              <a:solidFill>
                <a:schemeClr val="bg2">
                  <a:lumMod val="10000"/>
                </a:schemeClr>
              </a:solidFill>
            </a:endParaRPr>
          </a:p>
        </p:txBody>
      </p:sp>
    </p:spTree>
    <p:extLst>
      <p:ext uri="{BB962C8B-B14F-4D97-AF65-F5344CB8AC3E}">
        <p14:creationId xmlns:p14="http://schemas.microsoft.com/office/powerpoint/2010/main" val="3265903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3" y="1462802"/>
            <a:ext cx="10834234" cy="4562441"/>
          </a:xfrm>
        </p:spPr>
        <p:txBody>
          <a:bodyPr>
            <a:noAutofit/>
          </a:bodyPr>
          <a:lstStyle/>
          <a:p>
            <a:pPr lvl="1">
              <a:buFont typeface="Wingdings" panose="05000000000000000000" pitchFamily="2" charset="2"/>
              <a:buChar char="v"/>
            </a:pPr>
            <a:r>
              <a:rPr lang="en-US" sz="2600" dirty="0">
                <a:solidFill>
                  <a:schemeClr val="tx1"/>
                </a:solidFill>
              </a:rPr>
              <a:t>Introduction</a:t>
            </a:r>
          </a:p>
          <a:p>
            <a:pPr lvl="1">
              <a:buFont typeface="Wingdings" panose="05000000000000000000" pitchFamily="2" charset="2"/>
              <a:buChar char="v"/>
            </a:pPr>
            <a:r>
              <a:rPr lang="en-US" sz="2600" dirty="0">
                <a:solidFill>
                  <a:schemeClr val="tx1"/>
                </a:solidFill>
              </a:rPr>
              <a:t>Data Gathering and Reading</a:t>
            </a:r>
          </a:p>
          <a:p>
            <a:pPr lvl="1">
              <a:buFont typeface="Wingdings" panose="05000000000000000000" pitchFamily="2" charset="2"/>
              <a:buChar char="v"/>
            </a:pPr>
            <a:r>
              <a:rPr lang="en-US" sz="2600" dirty="0">
                <a:solidFill>
                  <a:schemeClr val="tx1"/>
                </a:solidFill>
              </a:rPr>
              <a:t>Data Preprocessing</a:t>
            </a:r>
          </a:p>
          <a:p>
            <a:pPr lvl="1">
              <a:buFont typeface="Wingdings" panose="05000000000000000000" pitchFamily="2" charset="2"/>
              <a:buChar char="v"/>
            </a:pPr>
            <a:r>
              <a:rPr lang="en-US" sz="2600" dirty="0">
                <a:solidFill>
                  <a:schemeClr val="tx1"/>
                </a:solidFill>
              </a:rPr>
              <a:t>Key Data Insights</a:t>
            </a:r>
          </a:p>
          <a:p>
            <a:pPr lvl="1">
              <a:buFont typeface="Wingdings" panose="05000000000000000000" pitchFamily="2" charset="2"/>
              <a:buChar char="v"/>
            </a:pPr>
            <a:r>
              <a:rPr lang="en-US" sz="2600" dirty="0">
                <a:solidFill>
                  <a:schemeClr val="tx1"/>
                </a:solidFill>
              </a:rPr>
              <a:t>Feature Engineering</a:t>
            </a:r>
          </a:p>
          <a:p>
            <a:pPr lvl="1">
              <a:buFont typeface="Wingdings" panose="05000000000000000000" pitchFamily="2" charset="2"/>
              <a:buChar char="v"/>
            </a:pPr>
            <a:r>
              <a:rPr lang="en-US" sz="2600" dirty="0">
                <a:solidFill>
                  <a:schemeClr val="tx1"/>
                </a:solidFill>
              </a:rPr>
              <a:t>RFM Analysis</a:t>
            </a:r>
          </a:p>
          <a:p>
            <a:pPr lvl="1">
              <a:buFont typeface="Wingdings" panose="05000000000000000000" pitchFamily="2" charset="2"/>
              <a:buChar char="v"/>
            </a:pPr>
            <a:r>
              <a:rPr lang="en-US" sz="2600" dirty="0">
                <a:solidFill>
                  <a:schemeClr val="tx1"/>
                </a:solidFill>
              </a:rPr>
              <a:t>Clustering Analysis</a:t>
            </a:r>
          </a:p>
          <a:p>
            <a:pPr lvl="1">
              <a:buFont typeface="Wingdings" panose="05000000000000000000" pitchFamily="2" charset="2"/>
              <a:buChar char="v"/>
            </a:pPr>
            <a:r>
              <a:rPr lang="en-US" sz="2600" dirty="0">
                <a:solidFill>
                  <a:schemeClr val="tx1"/>
                </a:solidFill>
              </a:rPr>
              <a:t>Churn Prediction</a:t>
            </a:r>
          </a:p>
          <a:p>
            <a:pPr lvl="1">
              <a:buFont typeface="Wingdings" panose="05000000000000000000" pitchFamily="2" charset="2"/>
              <a:buChar char="v"/>
            </a:pPr>
            <a:r>
              <a:rPr lang="en-US" sz="2600" dirty="0">
                <a:solidFill>
                  <a:schemeClr val="tx1"/>
                </a:solidFill>
              </a:rPr>
              <a:t>Deployment</a:t>
            </a:r>
          </a:p>
          <a:p>
            <a:pPr lvl="1">
              <a:buFont typeface="Wingdings" panose="05000000000000000000" pitchFamily="2" charset="2"/>
              <a:buChar char="v"/>
            </a:pPr>
            <a:r>
              <a:rPr lang="en-US" sz="2600" dirty="0">
                <a:solidFill>
                  <a:schemeClr val="tx1"/>
                </a:solidFill>
              </a:rPr>
              <a:t>Conclusion</a:t>
            </a:r>
          </a:p>
          <a:p>
            <a:pPr lvl="1">
              <a:buFont typeface="Wingdings" panose="05000000000000000000" pitchFamily="2" charset="2"/>
              <a:buChar char="v"/>
            </a:pPr>
            <a:r>
              <a:rPr lang="en-US" sz="2600" dirty="0">
                <a:solidFill>
                  <a:schemeClr val="tx1"/>
                </a:solidFill>
              </a:rPr>
              <a:t>Actionable Recommendations</a:t>
            </a:r>
            <a:endParaRPr lang="en-IN" sz="2600" dirty="0">
              <a:solidFill>
                <a:schemeClr val="tx1"/>
              </a:solidFill>
            </a:endParaRPr>
          </a:p>
          <a:p>
            <a:endParaRPr lang="en-US" sz="2600" dirty="0">
              <a:solidFill>
                <a:schemeClr val="tx1"/>
              </a:solidFill>
            </a:endParaRPr>
          </a:p>
          <a:p>
            <a:pPr marL="0" indent="0">
              <a:buNone/>
            </a:pPr>
            <a:endParaRPr lang="en-US" sz="2600" dirty="0">
              <a:solidFill>
                <a:schemeClr val="tx1"/>
              </a:solidFill>
            </a:endParaRPr>
          </a:p>
        </p:txBody>
      </p:sp>
      <p:sp>
        <p:nvSpPr>
          <p:cNvPr id="4" name="Freeform 2">
            <a:extLst>
              <a:ext uri="{FF2B5EF4-FFF2-40B4-BE49-F238E27FC236}">
                <a16:creationId xmlns:a16="http://schemas.microsoft.com/office/drawing/2014/main" id="{0E607F6A-67B1-0AF1-5F70-596D5BC2343D}"/>
              </a:ext>
            </a:extLst>
          </p:cNvPr>
          <p:cNvSpPr/>
          <p:nvPr/>
        </p:nvSpPr>
        <p:spPr>
          <a:xfrm rot="5400000">
            <a:off x="8375721" y="-2279722"/>
            <a:ext cx="1536557" cy="6096002"/>
          </a:xfrm>
          <a:custGeom>
            <a:avLst/>
            <a:gdLst/>
            <a:ahLst/>
            <a:cxnLst/>
            <a:rect l="l" t="t" r="r" b="b"/>
            <a:pathLst>
              <a:path w="4991149" h="7541571">
                <a:moveTo>
                  <a:pt x="0" y="0"/>
                </a:moveTo>
                <a:lnTo>
                  <a:pt x="4991149" y="0"/>
                </a:lnTo>
                <a:lnTo>
                  <a:pt x="4991149" y="7541572"/>
                </a:lnTo>
                <a:lnTo>
                  <a:pt x="0" y="7541572"/>
                </a:lnTo>
                <a:lnTo>
                  <a:pt x="0" y="0"/>
                </a:lnTo>
                <a:close/>
              </a:path>
            </a:pathLst>
          </a:custGeom>
          <a:blipFill dpi="0" rotWithShape="1">
            <a:blip r:embed="rId2">
              <a:alphaModFix amt="24000"/>
              <a:extLst>
                <a:ext uri="{96DAC541-7B7A-43D3-8B79-37D633B846F1}">
                  <asvg:svgBlip xmlns:asvg="http://schemas.microsoft.com/office/drawing/2016/SVG/main" r:embed="rId3"/>
                </a:ext>
              </a:extLst>
            </a:blip>
            <a:srcRect/>
            <a:stretch>
              <a:fillRect l="-224827" t="-23713" b="1"/>
            </a:stretch>
          </a:blipFill>
        </p:spPr>
        <p:txBody>
          <a:bodyPr/>
          <a:lstStyle/>
          <a:p>
            <a:endParaRPr lang="en-IN"/>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5A4EE-629B-9DF3-10A6-5C74853BCCFC}"/>
              </a:ext>
            </a:extLst>
          </p:cNvPr>
          <p:cNvSpPr>
            <a:spLocks noGrp="1"/>
          </p:cNvSpPr>
          <p:nvPr>
            <p:ph type="title"/>
          </p:nvPr>
        </p:nvSpPr>
        <p:spPr/>
        <p:txBody>
          <a:bodyPr/>
          <a:lstStyle/>
          <a:p>
            <a:r>
              <a:rPr lang="en-IN" sz="3600" dirty="0">
                <a:ea typeface="Calibri" panose="020F0502020204030204" pitchFamily="34" charset="0"/>
                <a:cs typeface="Calibri" panose="020F0502020204030204" pitchFamily="34" charset="0"/>
              </a:rPr>
              <a:t>Introduction</a:t>
            </a:r>
            <a:endParaRPr lang="en-IN" dirty="0"/>
          </a:p>
        </p:txBody>
      </p:sp>
      <p:sp>
        <p:nvSpPr>
          <p:cNvPr id="3" name="Content Placeholder 2">
            <a:extLst>
              <a:ext uri="{FF2B5EF4-FFF2-40B4-BE49-F238E27FC236}">
                <a16:creationId xmlns:a16="http://schemas.microsoft.com/office/drawing/2014/main" id="{AA091471-8C46-ACE8-48FE-C65A72946F64}"/>
              </a:ext>
            </a:extLst>
          </p:cNvPr>
          <p:cNvSpPr>
            <a:spLocks noGrp="1"/>
          </p:cNvSpPr>
          <p:nvPr>
            <p:ph idx="1"/>
          </p:nvPr>
        </p:nvSpPr>
        <p:spPr>
          <a:xfrm>
            <a:off x="678881" y="1398327"/>
            <a:ext cx="5107239" cy="4708559"/>
          </a:xfrm>
        </p:spPr>
        <p:txBody>
          <a:bodyPr>
            <a:normAutofit/>
          </a:bodyPr>
          <a:lstStyle/>
          <a:p>
            <a:pPr marL="0" indent="0">
              <a:buNone/>
            </a:pPr>
            <a:r>
              <a:rPr lang="en-US" b="1" u="sng" dirty="0"/>
              <a:t>Objective:</a:t>
            </a:r>
          </a:p>
          <a:p>
            <a:pPr marL="0" indent="0">
              <a:buNone/>
            </a:pPr>
            <a:r>
              <a:rPr lang="en-US" sz="2400" dirty="0"/>
              <a:t>Segment customers based on behavior and predict churn to improve retention and profitability.</a:t>
            </a:r>
          </a:p>
          <a:p>
            <a:pPr marL="0" indent="0">
              <a:lnSpc>
                <a:spcPct val="150000"/>
              </a:lnSpc>
              <a:buNone/>
            </a:pPr>
            <a:r>
              <a:rPr lang="en-US" sz="2400" b="1" u="sng" dirty="0">
                <a:ea typeface="Calibri" panose="020F0502020204030204" pitchFamily="34" charset="0"/>
                <a:cs typeface="Calibri" panose="020F0502020204030204" pitchFamily="34" charset="0"/>
              </a:rPr>
              <a:t>Tools Used: </a:t>
            </a:r>
          </a:p>
          <a:p>
            <a:pPr marL="285750" indent="-285750">
              <a:lnSpc>
                <a:spcPct val="120000"/>
              </a:lnSpc>
            </a:pPr>
            <a:r>
              <a:rPr lang="en-US" sz="2400" dirty="0">
                <a:ea typeface="Calibri" panose="020F0502020204030204" pitchFamily="34" charset="0"/>
                <a:cs typeface="Calibri" panose="020F0502020204030204" pitchFamily="34" charset="0"/>
              </a:rPr>
              <a:t>Python, </a:t>
            </a:r>
          </a:p>
          <a:p>
            <a:pPr marL="285750" indent="-285750">
              <a:lnSpc>
                <a:spcPct val="120000"/>
              </a:lnSpc>
            </a:pPr>
            <a:r>
              <a:rPr lang="en-US" sz="2400" dirty="0">
                <a:ea typeface="Calibri" panose="020F0502020204030204" pitchFamily="34" charset="0"/>
                <a:cs typeface="Calibri" panose="020F0502020204030204" pitchFamily="34" charset="0"/>
              </a:rPr>
              <a:t>Machine Learning, </a:t>
            </a:r>
          </a:p>
          <a:p>
            <a:pPr marL="285750" indent="-285750">
              <a:lnSpc>
                <a:spcPct val="120000"/>
              </a:lnSpc>
            </a:pPr>
            <a:r>
              <a:rPr lang="en-US" sz="2400" dirty="0">
                <a:ea typeface="Calibri" panose="020F0502020204030204" pitchFamily="34" charset="0"/>
                <a:cs typeface="Calibri" panose="020F0502020204030204" pitchFamily="34" charset="0"/>
              </a:rPr>
              <a:t>RFM Analysis, </a:t>
            </a:r>
          </a:p>
          <a:p>
            <a:pPr marL="285750" indent="-285750">
              <a:lnSpc>
                <a:spcPct val="120000"/>
              </a:lnSpc>
            </a:pPr>
            <a:r>
              <a:rPr lang="en-US" sz="2400" dirty="0">
                <a:ea typeface="Calibri" panose="020F0502020204030204" pitchFamily="34" charset="0"/>
                <a:cs typeface="Calibri" panose="020F0502020204030204" pitchFamily="34" charset="0"/>
              </a:rPr>
              <a:t>Clustering.</a:t>
            </a:r>
          </a:p>
          <a:p>
            <a:pPr marL="0" indent="0">
              <a:buNone/>
            </a:pPr>
            <a:endParaRPr lang="en-IN" sz="2400" dirty="0"/>
          </a:p>
        </p:txBody>
      </p:sp>
      <p:sp>
        <p:nvSpPr>
          <p:cNvPr id="5" name="TextBox 4">
            <a:extLst>
              <a:ext uri="{FF2B5EF4-FFF2-40B4-BE49-F238E27FC236}">
                <a16:creationId xmlns:a16="http://schemas.microsoft.com/office/drawing/2014/main" id="{DB26A377-CA7C-0BC3-5FAA-4E42B780BDFB}"/>
              </a:ext>
            </a:extLst>
          </p:cNvPr>
          <p:cNvSpPr txBox="1"/>
          <p:nvPr/>
        </p:nvSpPr>
        <p:spPr>
          <a:xfrm>
            <a:off x="6170363" y="1659836"/>
            <a:ext cx="6021637" cy="3036857"/>
          </a:xfrm>
          <a:prstGeom prst="rect">
            <a:avLst/>
          </a:prstGeom>
          <a:noFill/>
        </p:spPr>
        <p:txBody>
          <a:bodyPr wrap="square">
            <a:spAutoFit/>
          </a:bodyPr>
          <a:lstStyle/>
          <a:p>
            <a:pPr algn="l">
              <a:lnSpc>
                <a:spcPct val="300000"/>
              </a:lnSpc>
              <a:spcBef>
                <a:spcPts val="300"/>
              </a:spcBef>
            </a:pPr>
            <a:r>
              <a:rPr lang="en-US" sz="2200" b="1" dirty="0">
                <a:solidFill>
                  <a:srgbClr val="F8FAFF"/>
                </a:solidFill>
                <a:latin typeface="Calibri" panose="020F0502020204030204" pitchFamily="34" charset="0"/>
                <a:ea typeface="Calibri" panose="020F0502020204030204" pitchFamily="34" charset="0"/>
                <a:cs typeface="Calibri" panose="020F0502020204030204" pitchFamily="34" charset="0"/>
              </a:rPr>
              <a:t>Q1. </a:t>
            </a:r>
            <a:r>
              <a:rPr lang="en-US" sz="2200" b="1" i="0" dirty="0">
                <a:solidFill>
                  <a:srgbClr val="F8FAFF"/>
                </a:solidFill>
                <a:effectLst/>
                <a:latin typeface="Calibri" panose="020F0502020204030204" pitchFamily="34" charset="0"/>
                <a:ea typeface="Calibri" panose="020F0502020204030204" pitchFamily="34" charset="0"/>
                <a:cs typeface="Calibri" panose="020F0502020204030204" pitchFamily="34" charset="0"/>
              </a:rPr>
              <a:t> Who are the </a:t>
            </a:r>
            <a:r>
              <a:rPr lang="en-US" sz="2200" b="1" i="0" dirty="0">
                <a:solidFill>
                  <a:schemeClr val="accent4"/>
                </a:solidFill>
                <a:effectLst/>
                <a:latin typeface="Calibri" panose="020F0502020204030204" pitchFamily="34" charset="0"/>
                <a:ea typeface="Calibri" panose="020F0502020204030204" pitchFamily="34" charset="0"/>
                <a:cs typeface="Calibri" panose="020F0502020204030204" pitchFamily="34" charset="0"/>
              </a:rPr>
              <a:t>most valuable customers ?</a:t>
            </a:r>
          </a:p>
          <a:p>
            <a:pPr algn="l">
              <a:lnSpc>
                <a:spcPct val="300000"/>
              </a:lnSpc>
              <a:spcBef>
                <a:spcPts val="300"/>
              </a:spcBef>
            </a:pPr>
            <a:r>
              <a:rPr lang="en-US" sz="2200" b="1" i="0" dirty="0">
                <a:solidFill>
                  <a:srgbClr val="F8FAFF"/>
                </a:solidFill>
                <a:effectLst/>
                <a:latin typeface="Calibri" panose="020F0502020204030204" pitchFamily="34" charset="0"/>
                <a:ea typeface="Calibri" panose="020F0502020204030204" pitchFamily="34" charset="0"/>
                <a:cs typeface="Calibri" panose="020F0502020204030204" pitchFamily="34" charset="0"/>
              </a:rPr>
              <a:t>Q2.  Which customers are at </a:t>
            </a:r>
            <a:r>
              <a:rPr lang="en-US" sz="2200" b="1" i="0" dirty="0">
                <a:solidFill>
                  <a:srgbClr val="FE5854"/>
                </a:solidFill>
                <a:effectLst/>
                <a:latin typeface="Calibri" panose="020F0502020204030204" pitchFamily="34" charset="0"/>
                <a:ea typeface="Calibri" panose="020F0502020204030204" pitchFamily="34" charset="0"/>
                <a:cs typeface="Calibri" panose="020F0502020204030204" pitchFamily="34" charset="0"/>
              </a:rPr>
              <a:t>risk of churn ?</a:t>
            </a:r>
          </a:p>
          <a:p>
            <a:pPr algn="l">
              <a:lnSpc>
                <a:spcPct val="300000"/>
              </a:lnSpc>
              <a:spcBef>
                <a:spcPts val="300"/>
              </a:spcBef>
            </a:pPr>
            <a:r>
              <a:rPr lang="en-US" sz="2200" b="1" i="0" dirty="0">
                <a:solidFill>
                  <a:srgbClr val="F8FAFF"/>
                </a:solidFill>
                <a:effectLst/>
                <a:latin typeface="Calibri" panose="020F0502020204030204" pitchFamily="34" charset="0"/>
                <a:ea typeface="Calibri" panose="020F0502020204030204" pitchFamily="34" charset="0"/>
                <a:cs typeface="Calibri" panose="020F0502020204030204" pitchFamily="34" charset="0"/>
              </a:rPr>
              <a:t>Q3 .  How can we </a:t>
            </a:r>
            <a:r>
              <a:rPr lang="en-US" sz="2200" b="1" i="0"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improve customer engagement?</a:t>
            </a:r>
          </a:p>
        </p:txBody>
      </p:sp>
      <p:sp>
        <p:nvSpPr>
          <p:cNvPr id="7" name="TextBox 6">
            <a:extLst>
              <a:ext uri="{FF2B5EF4-FFF2-40B4-BE49-F238E27FC236}">
                <a16:creationId xmlns:a16="http://schemas.microsoft.com/office/drawing/2014/main" id="{3DBB6BC4-8CA0-1F2C-32B7-E7384F82F15C}"/>
              </a:ext>
            </a:extLst>
          </p:cNvPr>
          <p:cNvSpPr txBox="1"/>
          <p:nvPr/>
        </p:nvSpPr>
        <p:spPr>
          <a:xfrm>
            <a:off x="6613070" y="813552"/>
            <a:ext cx="3396343" cy="584775"/>
          </a:xfrm>
          <a:prstGeom prst="rect">
            <a:avLst/>
          </a:prstGeom>
          <a:noFill/>
        </p:spPr>
        <p:txBody>
          <a:bodyPr wrap="square">
            <a:spAutoFit/>
          </a:bodyPr>
          <a:lstStyle/>
          <a:p>
            <a:r>
              <a:rPr lang="en-IN" sz="3200" dirty="0">
                <a:solidFill>
                  <a:schemeClr val="bg1"/>
                </a:solidFill>
                <a:latin typeface="Times New Roman" panose="02020603050405020304" pitchFamily="18" charset="0"/>
                <a:cs typeface="Times New Roman" panose="02020603050405020304" pitchFamily="18" charset="0"/>
              </a:rPr>
              <a:t>Key Questions: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8330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00093F-5094-8844-EAC0-FFF0CD822A5B}"/>
              </a:ext>
            </a:extLst>
          </p:cNvPr>
          <p:cNvPicPr>
            <a:picLocks noChangeAspect="1"/>
          </p:cNvPicPr>
          <p:nvPr/>
        </p:nvPicPr>
        <p:blipFill>
          <a:blip r:embed="rId2">
            <a:duotone>
              <a:prstClr val="black"/>
              <a:schemeClr val="bg2">
                <a:lumMod val="10000"/>
                <a:tint val="45000"/>
                <a:satMod val="400000"/>
              </a:schemeClr>
            </a:duotone>
          </a:blip>
          <a:stretch>
            <a:fillRect/>
          </a:stretch>
        </p:blipFill>
        <p:spPr>
          <a:xfrm rot="20943577">
            <a:off x="6690343" y="3112700"/>
            <a:ext cx="701101" cy="701101"/>
          </a:xfrm>
          <a:prstGeom prst="rect">
            <a:avLst/>
          </a:prstGeom>
        </p:spPr>
      </p:pic>
      <p:pic>
        <p:nvPicPr>
          <p:cNvPr id="3" name="Picture 2">
            <a:extLst>
              <a:ext uri="{FF2B5EF4-FFF2-40B4-BE49-F238E27FC236}">
                <a16:creationId xmlns:a16="http://schemas.microsoft.com/office/drawing/2014/main" id="{4FF50288-8B6E-456F-E684-A486006660D5}"/>
              </a:ext>
            </a:extLst>
          </p:cNvPr>
          <p:cNvPicPr>
            <a:picLocks noChangeAspect="1"/>
          </p:cNvPicPr>
          <p:nvPr/>
        </p:nvPicPr>
        <p:blipFill>
          <a:blip r:embed="rId2">
            <a:duotone>
              <a:prstClr val="black"/>
              <a:schemeClr val="bg2">
                <a:lumMod val="10000"/>
                <a:tint val="45000"/>
                <a:satMod val="400000"/>
              </a:schemeClr>
            </a:duotone>
          </a:blip>
          <a:stretch>
            <a:fillRect/>
          </a:stretch>
        </p:blipFill>
        <p:spPr>
          <a:xfrm rot="532551" flipH="1">
            <a:off x="6924479" y="431052"/>
            <a:ext cx="701101" cy="701101"/>
          </a:xfrm>
          <a:prstGeom prst="rect">
            <a:avLst/>
          </a:prstGeom>
        </p:spPr>
      </p:pic>
      <p:grpSp>
        <p:nvGrpSpPr>
          <p:cNvPr id="4" name="Group 3">
            <a:extLst>
              <a:ext uri="{FF2B5EF4-FFF2-40B4-BE49-F238E27FC236}">
                <a16:creationId xmlns:a16="http://schemas.microsoft.com/office/drawing/2014/main" id="{F3DAAD69-BCA9-BB78-0D0F-2C8D3430E70E}"/>
              </a:ext>
            </a:extLst>
          </p:cNvPr>
          <p:cNvGrpSpPr/>
          <p:nvPr/>
        </p:nvGrpSpPr>
        <p:grpSpPr>
          <a:xfrm>
            <a:off x="6442848" y="1610792"/>
            <a:ext cx="1454797" cy="831944"/>
            <a:chOff x="6785257" y="5867269"/>
            <a:chExt cx="1454797" cy="831944"/>
          </a:xfrm>
          <a:solidFill>
            <a:schemeClr val="accent3"/>
          </a:solidFill>
        </p:grpSpPr>
        <p:sp>
          <p:nvSpPr>
            <p:cNvPr id="5" name="Rectangle 4">
              <a:extLst>
                <a:ext uri="{FF2B5EF4-FFF2-40B4-BE49-F238E27FC236}">
                  <a16:creationId xmlns:a16="http://schemas.microsoft.com/office/drawing/2014/main" id="{527EC150-BDCC-BC14-AB95-A14D8D3508F1}"/>
                </a:ext>
              </a:extLst>
            </p:cNvPr>
            <p:cNvSpPr/>
            <p:nvPr/>
          </p:nvSpPr>
          <p:spPr>
            <a:xfrm rot="19413298">
              <a:off x="6785257" y="6258683"/>
              <a:ext cx="1454797" cy="1327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15391765-F816-2131-F8EB-4782CE57B179}"/>
                </a:ext>
              </a:extLst>
            </p:cNvPr>
            <p:cNvGrpSpPr/>
            <p:nvPr/>
          </p:nvGrpSpPr>
          <p:grpSpPr>
            <a:xfrm>
              <a:off x="6960096" y="5867269"/>
              <a:ext cx="1083991" cy="831944"/>
              <a:chOff x="7304294" y="5502250"/>
              <a:chExt cx="1083991" cy="831944"/>
            </a:xfrm>
            <a:grpFill/>
            <a:effectLst/>
          </p:grpSpPr>
          <p:sp>
            <p:nvSpPr>
              <p:cNvPr id="7" name="Right Triangle 6">
                <a:extLst>
                  <a:ext uri="{FF2B5EF4-FFF2-40B4-BE49-F238E27FC236}">
                    <a16:creationId xmlns:a16="http://schemas.microsoft.com/office/drawing/2014/main" id="{4D17BF3B-AC0D-4048-4FC4-A7F43BC77E68}"/>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F4AE5527-B3F4-39AE-09C8-B5B4EF4DD25B}"/>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Triangle 8">
                <a:extLst>
                  <a:ext uri="{FF2B5EF4-FFF2-40B4-BE49-F238E27FC236}">
                    <a16:creationId xmlns:a16="http://schemas.microsoft.com/office/drawing/2014/main" id="{6C97DE5F-9CA0-A864-3800-9254CE8F42F6}"/>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BF49B959-1B37-E095-09A9-E51F0F74E076}"/>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ight Triangle 10">
                <a:extLst>
                  <a:ext uri="{FF2B5EF4-FFF2-40B4-BE49-F238E27FC236}">
                    <a16:creationId xmlns:a16="http://schemas.microsoft.com/office/drawing/2014/main" id="{D6730AC5-8B73-5312-EAFC-16CBC98764AC}"/>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2" name="Group 11">
            <a:extLst>
              <a:ext uri="{FF2B5EF4-FFF2-40B4-BE49-F238E27FC236}">
                <a16:creationId xmlns:a16="http://schemas.microsoft.com/office/drawing/2014/main" id="{517BC9FA-B463-57A1-6397-D78C2BACEAD1}"/>
              </a:ext>
            </a:extLst>
          </p:cNvPr>
          <p:cNvGrpSpPr/>
          <p:nvPr/>
        </p:nvGrpSpPr>
        <p:grpSpPr>
          <a:xfrm rot="4246982">
            <a:off x="6451874" y="677596"/>
            <a:ext cx="1454797" cy="831944"/>
            <a:chOff x="6785257" y="5867269"/>
            <a:chExt cx="1454797" cy="831944"/>
          </a:xfrm>
          <a:solidFill>
            <a:schemeClr val="accent3"/>
          </a:solidFill>
        </p:grpSpPr>
        <p:sp>
          <p:nvSpPr>
            <p:cNvPr id="13" name="Rectangle 12">
              <a:extLst>
                <a:ext uri="{FF2B5EF4-FFF2-40B4-BE49-F238E27FC236}">
                  <a16:creationId xmlns:a16="http://schemas.microsoft.com/office/drawing/2014/main" id="{67112E56-D7A9-9E88-4886-F2EB78E10A13}"/>
                </a:ext>
              </a:extLst>
            </p:cNvPr>
            <p:cNvSpPr/>
            <p:nvPr/>
          </p:nvSpPr>
          <p:spPr>
            <a:xfrm rot="19413298">
              <a:off x="6785257" y="6258683"/>
              <a:ext cx="1454797" cy="1327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D16293C-B5A8-8C7B-D711-B8DEAB5B6A02}"/>
                </a:ext>
              </a:extLst>
            </p:cNvPr>
            <p:cNvGrpSpPr/>
            <p:nvPr/>
          </p:nvGrpSpPr>
          <p:grpSpPr>
            <a:xfrm>
              <a:off x="6960096" y="5867269"/>
              <a:ext cx="1083991" cy="831944"/>
              <a:chOff x="7304294" y="5502250"/>
              <a:chExt cx="1083991" cy="831944"/>
            </a:xfrm>
            <a:grpFill/>
            <a:effectLst/>
          </p:grpSpPr>
          <p:sp>
            <p:nvSpPr>
              <p:cNvPr id="15" name="Right Triangle 14">
                <a:extLst>
                  <a:ext uri="{FF2B5EF4-FFF2-40B4-BE49-F238E27FC236}">
                    <a16:creationId xmlns:a16="http://schemas.microsoft.com/office/drawing/2014/main" id="{973FCED3-5E7D-F868-3EA2-6484396BADAD}"/>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64B6E067-1AAD-D9CD-580C-EB24E454C32A}"/>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ADED8FC-8903-5A8B-367D-8D28699FFD3F}"/>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FFB7A980-C016-86B3-C333-E1574DAB2647}"/>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ight Triangle 18">
                <a:extLst>
                  <a:ext uri="{FF2B5EF4-FFF2-40B4-BE49-F238E27FC236}">
                    <a16:creationId xmlns:a16="http://schemas.microsoft.com/office/drawing/2014/main" id="{373FB498-2EC7-A23D-D4AA-05F826DFA315}"/>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0" name="Group 19">
            <a:extLst>
              <a:ext uri="{FF2B5EF4-FFF2-40B4-BE49-F238E27FC236}">
                <a16:creationId xmlns:a16="http://schemas.microsoft.com/office/drawing/2014/main" id="{4BAE24CD-4DAC-0A6F-8BC3-35F734705F22}"/>
              </a:ext>
            </a:extLst>
          </p:cNvPr>
          <p:cNvGrpSpPr/>
          <p:nvPr/>
        </p:nvGrpSpPr>
        <p:grpSpPr>
          <a:xfrm rot="3763409">
            <a:off x="6442791" y="2525174"/>
            <a:ext cx="1454797" cy="831944"/>
            <a:chOff x="6785257" y="5867269"/>
            <a:chExt cx="1454797" cy="831944"/>
          </a:xfrm>
          <a:solidFill>
            <a:schemeClr val="accent3"/>
          </a:solidFill>
        </p:grpSpPr>
        <p:sp>
          <p:nvSpPr>
            <p:cNvPr id="21" name="Rectangle 20">
              <a:extLst>
                <a:ext uri="{FF2B5EF4-FFF2-40B4-BE49-F238E27FC236}">
                  <a16:creationId xmlns:a16="http://schemas.microsoft.com/office/drawing/2014/main" id="{706C1D10-A0E6-768D-5E69-E419D5EA6BD2}"/>
                </a:ext>
              </a:extLst>
            </p:cNvPr>
            <p:cNvSpPr/>
            <p:nvPr/>
          </p:nvSpPr>
          <p:spPr>
            <a:xfrm rot="19413298">
              <a:off x="6785257" y="6258683"/>
              <a:ext cx="1454797" cy="1327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E8440A84-108D-0B08-8F2C-67E47BD2C7DC}"/>
                </a:ext>
              </a:extLst>
            </p:cNvPr>
            <p:cNvGrpSpPr/>
            <p:nvPr/>
          </p:nvGrpSpPr>
          <p:grpSpPr>
            <a:xfrm>
              <a:off x="6960096" y="5867269"/>
              <a:ext cx="1083991" cy="831944"/>
              <a:chOff x="7304294" y="5502250"/>
              <a:chExt cx="1083991" cy="831944"/>
            </a:xfrm>
            <a:grpFill/>
            <a:effectLst/>
          </p:grpSpPr>
          <p:sp>
            <p:nvSpPr>
              <p:cNvPr id="23" name="Right Triangle 22">
                <a:extLst>
                  <a:ext uri="{FF2B5EF4-FFF2-40B4-BE49-F238E27FC236}">
                    <a16:creationId xmlns:a16="http://schemas.microsoft.com/office/drawing/2014/main" id="{51D0C30E-10C9-DDEC-1E53-48D993AECEA5}"/>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Triangle 23">
                <a:extLst>
                  <a:ext uri="{FF2B5EF4-FFF2-40B4-BE49-F238E27FC236}">
                    <a16:creationId xmlns:a16="http://schemas.microsoft.com/office/drawing/2014/main" id="{F429BD1C-1B47-2BB2-4D47-E790EBEC8B63}"/>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ight Triangle 24">
                <a:extLst>
                  <a:ext uri="{FF2B5EF4-FFF2-40B4-BE49-F238E27FC236}">
                    <a16:creationId xmlns:a16="http://schemas.microsoft.com/office/drawing/2014/main" id="{BBA8A28D-86D0-6603-CC47-30D9111879DE}"/>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1D246A11-C655-BC00-610D-52AC68E38C38}"/>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ight Triangle 26">
                <a:extLst>
                  <a:ext uri="{FF2B5EF4-FFF2-40B4-BE49-F238E27FC236}">
                    <a16:creationId xmlns:a16="http://schemas.microsoft.com/office/drawing/2014/main" id="{7855F7A8-A53B-C0EA-C24B-FABDD46DF2B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8" name="Group 27">
            <a:extLst>
              <a:ext uri="{FF2B5EF4-FFF2-40B4-BE49-F238E27FC236}">
                <a16:creationId xmlns:a16="http://schemas.microsoft.com/office/drawing/2014/main" id="{43549336-0AFE-24EA-CCB1-1739E036A5E4}"/>
              </a:ext>
            </a:extLst>
          </p:cNvPr>
          <p:cNvGrpSpPr/>
          <p:nvPr/>
        </p:nvGrpSpPr>
        <p:grpSpPr>
          <a:xfrm>
            <a:off x="6482552" y="3327525"/>
            <a:ext cx="1454797" cy="831944"/>
            <a:chOff x="6785257" y="5867269"/>
            <a:chExt cx="1454797" cy="831944"/>
          </a:xfrm>
          <a:solidFill>
            <a:schemeClr val="accent3"/>
          </a:solidFill>
        </p:grpSpPr>
        <p:sp>
          <p:nvSpPr>
            <p:cNvPr id="29" name="Rectangle 28">
              <a:extLst>
                <a:ext uri="{FF2B5EF4-FFF2-40B4-BE49-F238E27FC236}">
                  <a16:creationId xmlns:a16="http://schemas.microsoft.com/office/drawing/2014/main" id="{4FFE68F3-2E09-A796-CB55-97B4EFC6429A}"/>
                </a:ext>
              </a:extLst>
            </p:cNvPr>
            <p:cNvSpPr/>
            <p:nvPr/>
          </p:nvSpPr>
          <p:spPr>
            <a:xfrm rot="19413298">
              <a:off x="6785257" y="6258683"/>
              <a:ext cx="1454797" cy="1327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E4A39BE8-8BA7-C9F7-616E-47CF77F198AF}"/>
                </a:ext>
              </a:extLst>
            </p:cNvPr>
            <p:cNvGrpSpPr/>
            <p:nvPr/>
          </p:nvGrpSpPr>
          <p:grpSpPr>
            <a:xfrm>
              <a:off x="6960096" y="5867269"/>
              <a:ext cx="1083991" cy="831944"/>
              <a:chOff x="7304294" y="5502250"/>
              <a:chExt cx="1083991" cy="831944"/>
            </a:xfrm>
            <a:grpFill/>
            <a:effectLst/>
          </p:grpSpPr>
          <p:sp>
            <p:nvSpPr>
              <p:cNvPr id="31" name="Right Triangle 30">
                <a:extLst>
                  <a:ext uri="{FF2B5EF4-FFF2-40B4-BE49-F238E27FC236}">
                    <a16:creationId xmlns:a16="http://schemas.microsoft.com/office/drawing/2014/main" id="{2B03A53D-22DD-F2EE-6F7E-FD1E1EB690C4}"/>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Triangle 31">
                <a:extLst>
                  <a:ext uri="{FF2B5EF4-FFF2-40B4-BE49-F238E27FC236}">
                    <a16:creationId xmlns:a16="http://schemas.microsoft.com/office/drawing/2014/main" id="{A8DE68CD-58BC-E2B8-157E-94CD8287054E}"/>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ight Triangle 32">
                <a:extLst>
                  <a:ext uri="{FF2B5EF4-FFF2-40B4-BE49-F238E27FC236}">
                    <a16:creationId xmlns:a16="http://schemas.microsoft.com/office/drawing/2014/main" id="{46DAFEF1-263C-5C79-CA6F-827EE6741008}"/>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ight Triangle 33">
                <a:extLst>
                  <a:ext uri="{FF2B5EF4-FFF2-40B4-BE49-F238E27FC236}">
                    <a16:creationId xmlns:a16="http://schemas.microsoft.com/office/drawing/2014/main" id="{EEAF354C-0FB4-1DD4-DDD9-9E22EDCB71FF}"/>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ight Triangle 34">
                <a:extLst>
                  <a:ext uri="{FF2B5EF4-FFF2-40B4-BE49-F238E27FC236}">
                    <a16:creationId xmlns:a16="http://schemas.microsoft.com/office/drawing/2014/main" id="{22DEFE68-E618-70D9-045D-C18623F65637}"/>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6" name="Group 35">
            <a:extLst>
              <a:ext uri="{FF2B5EF4-FFF2-40B4-BE49-F238E27FC236}">
                <a16:creationId xmlns:a16="http://schemas.microsoft.com/office/drawing/2014/main" id="{1C72CF6B-4B1C-5757-BAF9-A3A9BCA90B5C}"/>
              </a:ext>
            </a:extLst>
          </p:cNvPr>
          <p:cNvGrpSpPr/>
          <p:nvPr/>
        </p:nvGrpSpPr>
        <p:grpSpPr>
          <a:xfrm rot="3965514">
            <a:off x="6401410" y="4331589"/>
            <a:ext cx="1454797" cy="831944"/>
            <a:chOff x="6785257" y="5867269"/>
            <a:chExt cx="1454797" cy="831944"/>
          </a:xfrm>
          <a:solidFill>
            <a:schemeClr val="accent3"/>
          </a:solidFill>
        </p:grpSpPr>
        <p:sp>
          <p:nvSpPr>
            <p:cNvPr id="37" name="Rectangle 36">
              <a:extLst>
                <a:ext uri="{FF2B5EF4-FFF2-40B4-BE49-F238E27FC236}">
                  <a16:creationId xmlns:a16="http://schemas.microsoft.com/office/drawing/2014/main" id="{F47D9488-8CF8-01FC-518C-95B2F28D5C93}"/>
                </a:ext>
              </a:extLst>
            </p:cNvPr>
            <p:cNvSpPr/>
            <p:nvPr/>
          </p:nvSpPr>
          <p:spPr>
            <a:xfrm rot="19413298">
              <a:off x="6785257" y="6258683"/>
              <a:ext cx="1454797" cy="1327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oup 37">
              <a:extLst>
                <a:ext uri="{FF2B5EF4-FFF2-40B4-BE49-F238E27FC236}">
                  <a16:creationId xmlns:a16="http://schemas.microsoft.com/office/drawing/2014/main" id="{0385FED6-B7DD-0060-E857-2E8E01CAD5B1}"/>
                </a:ext>
              </a:extLst>
            </p:cNvPr>
            <p:cNvGrpSpPr/>
            <p:nvPr/>
          </p:nvGrpSpPr>
          <p:grpSpPr>
            <a:xfrm>
              <a:off x="6960096" y="5867269"/>
              <a:ext cx="1083991" cy="831944"/>
              <a:chOff x="7304294" y="5502250"/>
              <a:chExt cx="1083991" cy="831944"/>
            </a:xfrm>
            <a:grpFill/>
            <a:effectLst/>
          </p:grpSpPr>
          <p:sp>
            <p:nvSpPr>
              <p:cNvPr id="39" name="Right Triangle 38">
                <a:extLst>
                  <a:ext uri="{FF2B5EF4-FFF2-40B4-BE49-F238E27FC236}">
                    <a16:creationId xmlns:a16="http://schemas.microsoft.com/office/drawing/2014/main" id="{A18B3F4E-C738-43A9-DF81-013F75F5881C}"/>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Triangle 39">
                <a:extLst>
                  <a:ext uri="{FF2B5EF4-FFF2-40B4-BE49-F238E27FC236}">
                    <a16:creationId xmlns:a16="http://schemas.microsoft.com/office/drawing/2014/main" id="{4CC770AD-168D-F0FD-F69C-EA291403D412}"/>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ight Triangle 40">
                <a:extLst>
                  <a:ext uri="{FF2B5EF4-FFF2-40B4-BE49-F238E27FC236}">
                    <a16:creationId xmlns:a16="http://schemas.microsoft.com/office/drawing/2014/main" id="{ADAC843A-029D-8194-4D85-A11AD70400C8}"/>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Triangle 41">
                <a:extLst>
                  <a:ext uri="{FF2B5EF4-FFF2-40B4-BE49-F238E27FC236}">
                    <a16:creationId xmlns:a16="http://schemas.microsoft.com/office/drawing/2014/main" id="{B7B22B4B-19AD-1987-E10E-2453CFECC9F4}"/>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ight Triangle 42">
                <a:extLst>
                  <a:ext uri="{FF2B5EF4-FFF2-40B4-BE49-F238E27FC236}">
                    <a16:creationId xmlns:a16="http://schemas.microsoft.com/office/drawing/2014/main" id="{835EB20A-ED9A-F4D5-AD7C-3696AE057E19}"/>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4" name="Group 43">
            <a:extLst>
              <a:ext uri="{FF2B5EF4-FFF2-40B4-BE49-F238E27FC236}">
                <a16:creationId xmlns:a16="http://schemas.microsoft.com/office/drawing/2014/main" id="{84021284-2E6E-F2A3-E6A7-BEFC9657930D}"/>
              </a:ext>
            </a:extLst>
          </p:cNvPr>
          <p:cNvGrpSpPr/>
          <p:nvPr/>
        </p:nvGrpSpPr>
        <p:grpSpPr>
          <a:xfrm>
            <a:off x="6381109" y="5128024"/>
            <a:ext cx="1454797" cy="831944"/>
            <a:chOff x="6785257" y="5867269"/>
            <a:chExt cx="1454797" cy="831944"/>
          </a:xfrm>
          <a:solidFill>
            <a:schemeClr val="accent3"/>
          </a:solidFill>
        </p:grpSpPr>
        <p:sp>
          <p:nvSpPr>
            <p:cNvPr id="45" name="Rectangle 44">
              <a:extLst>
                <a:ext uri="{FF2B5EF4-FFF2-40B4-BE49-F238E27FC236}">
                  <a16:creationId xmlns:a16="http://schemas.microsoft.com/office/drawing/2014/main" id="{194DE7A7-045D-3D1E-197E-750A4062402A}"/>
                </a:ext>
              </a:extLst>
            </p:cNvPr>
            <p:cNvSpPr/>
            <p:nvPr/>
          </p:nvSpPr>
          <p:spPr>
            <a:xfrm rot="19413298">
              <a:off x="6785257" y="6258683"/>
              <a:ext cx="1454797" cy="1327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45D7526-AC42-AEC5-AF4E-9239E32C89E8}"/>
                </a:ext>
              </a:extLst>
            </p:cNvPr>
            <p:cNvGrpSpPr/>
            <p:nvPr/>
          </p:nvGrpSpPr>
          <p:grpSpPr>
            <a:xfrm>
              <a:off x="6960096" y="5867269"/>
              <a:ext cx="1083991" cy="831944"/>
              <a:chOff x="7304294" y="5502250"/>
              <a:chExt cx="1083991" cy="831944"/>
            </a:xfrm>
            <a:grpFill/>
            <a:effectLst/>
          </p:grpSpPr>
          <p:sp>
            <p:nvSpPr>
              <p:cNvPr id="47" name="Right Triangle 46">
                <a:extLst>
                  <a:ext uri="{FF2B5EF4-FFF2-40B4-BE49-F238E27FC236}">
                    <a16:creationId xmlns:a16="http://schemas.microsoft.com/office/drawing/2014/main" id="{D51E7545-C67F-0067-34B3-50C736EB7321}"/>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ight Triangle 47">
                <a:extLst>
                  <a:ext uri="{FF2B5EF4-FFF2-40B4-BE49-F238E27FC236}">
                    <a16:creationId xmlns:a16="http://schemas.microsoft.com/office/drawing/2014/main" id="{9CA5C6BA-8CDD-6AD7-877D-6B72FEE0DCD0}"/>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ight Triangle 48">
                <a:extLst>
                  <a:ext uri="{FF2B5EF4-FFF2-40B4-BE49-F238E27FC236}">
                    <a16:creationId xmlns:a16="http://schemas.microsoft.com/office/drawing/2014/main" id="{9A491CA6-FB9D-044F-C4E4-F6029D0E7C38}"/>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ight Triangle 49">
                <a:extLst>
                  <a:ext uri="{FF2B5EF4-FFF2-40B4-BE49-F238E27FC236}">
                    <a16:creationId xmlns:a16="http://schemas.microsoft.com/office/drawing/2014/main" id="{F945994F-EDA8-E2AF-402C-9A328290B35B}"/>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ight Triangle 50">
                <a:extLst>
                  <a:ext uri="{FF2B5EF4-FFF2-40B4-BE49-F238E27FC236}">
                    <a16:creationId xmlns:a16="http://schemas.microsoft.com/office/drawing/2014/main" id="{058FA76D-F4AD-83E4-26D7-030AE03839D8}"/>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52" name="Group 51">
            <a:extLst>
              <a:ext uri="{FF2B5EF4-FFF2-40B4-BE49-F238E27FC236}">
                <a16:creationId xmlns:a16="http://schemas.microsoft.com/office/drawing/2014/main" id="{1C101C31-57D6-913F-F739-6B209066540C}"/>
              </a:ext>
            </a:extLst>
          </p:cNvPr>
          <p:cNvGrpSpPr/>
          <p:nvPr/>
        </p:nvGrpSpPr>
        <p:grpSpPr>
          <a:xfrm>
            <a:off x="2806088" y="3566976"/>
            <a:ext cx="3847232" cy="1256880"/>
            <a:chOff x="4963887" y="5221960"/>
            <a:chExt cx="3847232" cy="1256880"/>
          </a:xfrm>
        </p:grpSpPr>
        <p:sp>
          <p:nvSpPr>
            <p:cNvPr id="53" name="Rectangle: Rounded Corners 52">
              <a:extLst>
                <a:ext uri="{FF2B5EF4-FFF2-40B4-BE49-F238E27FC236}">
                  <a16:creationId xmlns:a16="http://schemas.microsoft.com/office/drawing/2014/main" id="{857FDC20-781B-A008-DD1D-655AA496C1F1}"/>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50EED8A2-FB99-9005-974A-00ABF26C9B3E}"/>
                </a:ext>
              </a:extLst>
            </p:cNvPr>
            <p:cNvSpPr/>
            <p:nvPr/>
          </p:nvSpPr>
          <p:spPr>
            <a:xfrm>
              <a:off x="7554238" y="5221960"/>
              <a:ext cx="1256880" cy="125688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361CC18D-7A58-2F66-009E-1B83B0AADEDB}"/>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20C717CE-6DC0-0ED5-AF81-393B4C219A69}"/>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57" name="TextBox 56">
              <a:extLst>
                <a:ext uri="{FF2B5EF4-FFF2-40B4-BE49-F238E27FC236}">
                  <a16:creationId xmlns:a16="http://schemas.microsoft.com/office/drawing/2014/main" id="{DE0FE433-804D-9096-16F9-2C74DA7B0B16}"/>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03</a:t>
              </a:r>
            </a:p>
          </p:txBody>
        </p:sp>
      </p:grpSp>
      <p:grpSp>
        <p:nvGrpSpPr>
          <p:cNvPr id="58" name="Group 57">
            <a:extLst>
              <a:ext uri="{FF2B5EF4-FFF2-40B4-BE49-F238E27FC236}">
                <a16:creationId xmlns:a16="http://schemas.microsoft.com/office/drawing/2014/main" id="{2B292021-38A5-6521-1AE4-C8CBEA177535}"/>
              </a:ext>
            </a:extLst>
          </p:cNvPr>
          <p:cNvGrpSpPr/>
          <p:nvPr/>
        </p:nvGrpSpPr>
        <p:grpSpPr>
          <a:xfrm>
            <a:off x="2806088" y="1955452"/>
            <a:ext cx="3847232" cy="1256880"/>
            <a:chOff x="4963887" y="5221960"/>
            <a:chExt cx="3847232" cy="1256880"/>
          </a:xfrm>
        </p:grpSpPr>
        <p:sp>
          <p:nvSpPr>
            <p:cNvPr id="59" name="Rectangle: Rounded Corners 58">
              <a:extLst>
                <a:ext uri="{FF2B5EF4-FFF2-40B4-BE49-F238E27FC236}">
                  <a16:creationId xmlns:a16="http://schemas.microsoft.com/office/drawing/2014/main" id="{C9D438B0-8AA1-231D-367E-C4A57DD80E44}"/>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Rounded Corners 59">
              <a:extLst>
                <a:ext uri="{FF2B5EF4-FFF2-40B4-BE49-F238E27FC236}">
                  <a16:creationId xmlns:a16="http://schemas.microsoft.com/office/drawing/2014/main" id="{395112D6-14C1-FD37-D9E4-41242ADC79FB}"/>
                </a:ext>
              </a:extLst>
            </p:cNvPr>
            <p:cNvSpPr/>
            <p:nvPr/>
          </p:nvSpPr>
          <p:spPr>
            <a:xfrm>
              <a:off x="7554238" y="5221960"/>
              <a:ext cx="1256880" cy="125688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61" name="Rectangle: Rounded Corners 60">
              <a:extLst>
                <a:ext uri="{FF2B5EF4-FFF2-40B4-BE49-F238E27FC236}">
                  <a16:creationId xmlns:a16="http://schemas.microsoft.com/office/drawing/2014/main" id="{6E7D6DD0-BEF7-9F4D-4F83-9FE3B9F08E08}"/>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506C0C65-6145-080F-092C-8CF758FB11C1}"/>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63" name="TextBox 62">
              <a:extLst>
                <a:ext uri="{FF2B5EF4-FFF2-40B4-BE49-F238E27FC236}">
                  <a16:creationId xmlns:a16="http://schemas.microsoft.com/office/drawing/2014/main" id="{1A260440-AAB6-CCD9-322F-E45F2202B65D}"/>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05</a:t>
              </a:r>
            </a:p>
          </p:txBody>
        </p:sp>
      </p:grpSp>
      <p:grpSp>
        <p:nvGrpSpPr>
          <p:cNvPr id="64" name="Group 63">
            <a:extLst>
              <a:ext uri="{FF2B5EF4-FFF2-40B4-BE49-F238E27FC236}">
                <a16:creationId xmlns:a16="http://schemas.microsoft.com/office/drawing/2014/main" id="{05848899-DAFE-F913-CCED-A7CFAD790D43}"/>
              </a:ext>
            </a:extLst>
          </p:cNvPr>
          <p:cNvGrpSpPr/>
          <p:nvPr/>
        </p:nvGrpSpPr>
        <p:grpSpPr>
          <a:xfrm>
            <a:off x="2816829" y="276763"/>
            <a:ext cx="3847232" cy="1256880"/>
            <a:chOff x="4963887" y="5221960"/>
            <a:chExt cx="3847232" cy="1256880"/>
          </a:xfrm>
        </p:grpSpPr>
        <p:sp>
          <p:nvSpPr>
            <p:cNvPr id="65" name="Rectangle: Rounded Corners 64">
              <a:extLst>
                <a:ext uri="{FF2B5EF4-FFF2-40B4-BE49-F238E27FC236}">
                  <a16:creationId xmlns:a16="http://schemas.microsoft.com/office/drawing/2014/main" id="{23835A18-2A40-CE57-348E-C52D78F85541}"/>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C7F9643E-B790-C080-F464-DFEB0A6EECC5}"/>
                </a:ext>
              </a:extLst>
            </p:cNvPr>
            <p:cNvSpPr/>
            <p:nvPr/>
          </p:nvSpPr>
          <p:spPr>
            <a:xfrm>
              <a:off x="7554238" y="5221960"/>
              <a:ext cx="1256880" cy="125688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67" name="Rectangle: Rounded Corners 66">
              <a:extLst>
                <a:ext uri="{FF2B5EF4-FFF2-40B4-BE49-F238E27FC236}">
                  <a16:creationId xmlns:a16="http://schemas.microsoft.com/office/drawing/2014/main" id="{45BEB8DB-94BF-059F-0800-D8CFD2AF1DD8}"/>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8C264065-2069-B8FA-4C2B-E05E0874EF97}"/>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69" name="TextBox 68">
              <a:extLst>
                <a:ext uri="{FF2B5EF4-FFF2-40B4-BE49-F238E27FC236}">
                  <a16:creationId xmlns:a16="http://schemas.microsoft.com/office/drawing/2014/main" id="{00A53C4B-4CAE-DEC1-A478-BA291ADC35A8}"/>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07</a:t>
              </a:r>
            </a:p>
          </p:txBody>
        </p:sp>
      </p:grpSp>
      <p:sp>
        <p:nvSpPr>
          <p:cNvPr id="70" name="Rectangle: Rounded Corners 69">
            <a:extLst>
              <a:ext uri="{FF2B5EF4-FFF2-40B4-BE49-F238E27FC236}">
                <a16:creationId xmlns:a16="http://schemas.microsoft.com/office/drawing/2014/main" id="{58B850B0-DC07-2CB7-221F-EBAE3B4B3D14}"/>
              </a:ext>
            </a:extLst>
          </p:cNvPr>
          <p:cNvSpPr/>
          <p:nvPr/>
        </p:nvSpPr>
        <p:spPr>
          <a:xfrm>
            <a:off x="7586965" y="4462222"/>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Rounded Corners 70">
            <a:extLst>
              <a:ext uri="{FF2B5EF4-FFF2-40B4-BE49-F238E27FC236}">
                <a16:creationId xmlns:a16="http://schemas.microsoft.com/office/drawing/2014/main" id="{FDA3AE25-2842-98BE-DBE8-F164870E8187}"/>
              </a:ext>
            </a:extLst>
          </p:cNvPr>
          <p:cNvSpPr/>
          <p:nvPr/>
        </p:nvSpPr>
        <p:spPr>
          <a:xfrm>
            <a:off x="7622801" y="4462222"/>
            <a:ext cx="1256880" cy="125688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2" name="Rectangle: Rounded Corners 71">
            <a:extLst>
              <a:ext uri="{FF2B5EF4-FFF2-40B4-BE49-F238E27FC236}">
                <a16:creationId xmlns:a16="http://schemas.microsoft.com/office/drawing/2014/main" id="{0016B5F6-6069-7BCA-9367-8FFCFF30666C}"/>
              </a:ext>
            </a:extLst>
          </p:cNvPr>
          <p:cNvSpPr/>
          <p:nvPr/>
        </p:nvSpPr>
        <p:spPr>
          <a:xfrm>
            <a:off x="7783826" y="4623247"/>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8211A5B8-DB2A-067F-E5FD-14964260E3AE}"/>
              </a:ext>
            </a:extLst>
          </p:cNvPr>
          <p:cNvSpPr txBox="1"/>
          <p:nvPr/>
        </p:nvSpPr>
        <p:spPr>
          <a:xfrm>
            <a:off x="7793568" y="4683931"/>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74" name="TextBox 73">
            <a:extLst>
              <a:ext uri="{FF2B5EF4-FFF2-40B4-BE49-F238E27FC236}">
                <a16:creationId xmlns:a16="http://schemas.microsoft.com/office/drawing/2014/main" id="{A5333758-A8C5-607C-8592-70C2A2AF4CB0}"/>
              </a:ext>
            </a:extLst>
          </p:cNvPr>
          <p:cNvSpPr txBox="1"/>
          <p:nvPr/>
        </p:nvSpPr>
        <p:spPr>
          <a:xfrm>
            <a:off x="7844841" y="4911746"/>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02</a:t>
            </a:r>
          </a:p>
        </p:txBody>
      </p:sp>
      <p:sp>
        <p:nvSpPr>
          <p:cNvPr id="75" name="TextBox 74">
            <a:extLst>
              <a:ext uri="{FF2B5EF4-FFF2-40B4-BE49-F238E27FC236}">
                <a16:creationId xmlns:a16="http://schemas.microsoft.com/office/drawing/2014/main" id="{0E1DE64E-90A2-B27A-5393-0A6C951D6AEB}"/>
              </a:ext>
            </a:extLst>
          </p:cNvPr>
          <p:cNvSpPr txBox="1"/>
          <p:nvPr/>
        </p:nvSpPr>
        <p:spPr>
          <a:xfrm>
            <a:off x="9015541" y="4575158"/>
            <a:ext cx="23345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Data Preprocessing</a:t>
            </a:r>
          </a:p>
        </p:txBody>
      </p:sp>
      <p:sp>
        <p:nvSpPr>
          <p:cNvPr id="76" name="TextBox 75">
            <a:extLst>
              <a:ext uri="{FF2B5EF4-FFF2-40B4-BE49-F238E27FC236}">
                <a16:creationId xmlns:a16="http://schemas.microsoft.com/office/drawing/2014/main" id="{AAEFB9CF-4C77-758E-4B36-47AB580DFAC0}"/>
              </a:ext>
            </a:extLst>
          </p:cNvPr>
          <p:cNvSpPr txBox="1"/>
          <p:nvPr/>
        </p:nvSpPr>
        <p:spPr>
          <a:xfrm>
            <a:off x="3037895" y="3743023"/>
            <a:ext cx="2278031"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Key Data Insights</a:t>
            </a:r>
          </a:p>
        </p:txBody>
      </p:sp>
      <p:grpSp>
        <p:nvGrpSpPr>
          <p:cNvPr id="77" name="Group 76">
            <a:extLst>
              <a:ext uri="{FF2B5EF4-FFF2-40B4-BE49-F238E27FC236}">
                <a16:creationId xmlns:a16="http://schemas.microsoft.com/office/drawing/2014/main" id="{0131E874-8EDC-66CC-6007-5D0C9C122FDA}"/>
              </a:ext>
            </a:extLst>
          </p:cNvPr>
          <p:cNvGrpSpPr/>
          <p:nvPr/>
        </p:nvGrpSpPr>
        <p:grpSpPr>
          <a:xfrm>
            <a:off x="7622801" y="2667818"/>
            <a:ext cx="3847232" cy="1256880"/>
            <a:chOff x="6204712" y="4509220"/>
            <a:chExt cx="3847232" cy="1256880"/>
          </a:xfrm>
        </p:grpSpPr>
        <p:sp>
          <p:nvSpPr>
            <p:cNvPr id="78" name="Rectangle: Rounded Corners 77">
              <a:extLst>
                <a:ext uri="{FF2B5EF4-FFF2-40B4-BE49-F238E27FC236}">
                  <a16:creationId xmlns:a16="http://schemas.microsoft.com/office/drawing/2014/main" id="{DD2B3F99-5CC1-FA0C-8781-D2BBEBD370D6}"/>
                </a:ext>
              </a:extLst>
            </p:cNvPr>
            <p:cNvSpPr/>
            <p:nvPr/>
          </p:nvSpPr>
          <p:spPr>
            <a:xfrm>
              <a:off x="6204712" y="450922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CEF72172-6FF9-89BC-A39D-6BA66E3B95BE}"/>
                </a:ext>
              </a:extLst>
            </p:cNvPr>
            <p:cNvSpPr/>
            <p:nvPr/>
          </p:nvSpPr>
          <p:spPr>
            <a:xfrm>
              <a:off x="6240548" y="4509220"/>
              <a:ext cx="1256880" cy="1256880"/>
            </a:xfrm>
            <a:prstGeom prst="roundRect">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Rounded Corners 79">
              <a:extLst>
                <a:ext uri="{FF2B5EF4-FFF2-40B4-BE49-F238E27FC236}">
                  <a16:creationId xmlns:a16="http://schemas.microsoft.com/office/drawing/2014/main" id="{ED7FD504-F084-5570-75AC-D9C0D0F68AF7}"/>
                </a:ext>
              </a:extLst>
            </p:cNvPr>
            <p:cNvSpPr/>
            <p:nvPr/>
          </p:nvSpPr>
          <p:spPr>
            <a:xfrm>
              <a:off x="6401573" y="467024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EFE91655-2974-6335-9386-94F4FBC52562}"/>
                </a:ext>
              </a:extLst>
            </p:cNvPr>
            <p:cNvSpPr txBox="1"/>
            <p:nvPr/>
          </p:nvSpPr>
          <p:spPr>
            <a:xfrm>
              <a:off x="6411315" y="473092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82" name="TextBox 81">
              <a:extLst>
                <a:ext uri="{FF2B5EF4-FFF2-40B4-BE49-F238E27FC236}">
                  <a16:creationId xmlns:a16="http://schemas.microsoft.com/office/drawing/2014/main" id="{245698A4-E371-A30A-46CC-E5999BE3D3FC}"/>
                </a:ext>
              </a:extLst>
            </p:cNvPr>
            <p:cNvSpPr txBox="1"/>
            <p:nvPr/>
          </p:nvSpPr>
          <p:spPr>
            <a:xfrm>
              <a:off x="6462588" y="495874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04</a:t>
              </a:r>
            </a:p>
          </p:txBody>
        </p:sp>
      </p:grpSp>
      <p:grpSp>
        <p:nvGrpSpPr>
          <p:cNvPr id="83" name="Group 82">
            <a:extLst>
              <a:ext uri="{FF2B5EF4-FFF2-40B4-BE49-F238E27FC236}">
                <a16:creationId xmlns:a16="http://schemas.microsoft.com/office/drawing/2014/main" id="{1EF23E4E-348A-7BD1-5633-546245E1D51E}"/>
              </a:ext>
            </a:extLst>
          </p:cNvPr>
          <p:cNvGrpSpPr/>
          <p:nvPr/>
        </p:nvGrpSpPr>
        <p:grpSpPr>
          <a:xfrm>
            <a:off x="7622801" y="873414"/>
            <a:ext cx="3847232" cy="1256880"/>
            <a:chOff x="6204712" y="4509220"/>
            <a:chExt cx="3847232" cy="1256880"/>
          </a:xfrm>
        </p:grpSpPr>
        <p:sp>
          <p:nvSpPr>
            <p:cNvPr id="84" name="Rectangle: Rounded Corners 83">
              <a:extLst>
                <a:ext uri="{FF2B5EF4-FFF2-40B4-BE49-F238E27FC236}">
                  <a16:creationId xmlns:a16="http://schemas.microsoft.com/office/drawing/2014/main" id="{675157CA-4D39-8428-EB91-126FD29F2BB4}"/>
                </a:ext>
              </a:extLst>
            </p:cNvPr>
            <p:cNvSpPr/>
            <p:nvPr/>
          </p:nvSpPr>
          <p:spPr>
            <a:xfrm>
              <a:off x="6204712" y="450922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Rounded Corners 84">
              <a:extLst>
                <a:ext uri="{FF2B5EF4-FFF2-40B4-BE49-F238E27FC236}">
                  <a16:creationId xmlns:a16="http://schemas.microsoft.com/office/drawing/2014/main" id="{AE8F51A8-C1ED-0C5E-4C44-F0D8D933655A}"/>
                </a:ext>
              </a:extLst>
            </p:cNvPr>
            <p:cNvSpPr/>
            <p:nvPr/>
          </p:nvSpPr>
          <p:spPr>
            <a:xfrm>
              <a:off x="6240548" y="4509220"/>
              <a:ext cx="1256880" cy="125688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6" name="Rectangle: Rounded Corners 85">
              <a:extLst>
                <a:ext uri="{FF2B5EF4-FFF2-40B4-BE49-F238E27FC236}">
                  <a16:creationId xmlns:a16="http://schemas.microsoft.com/office/drawing/2014/main" id="{8EA36CDE-AD8B-F65F-3D83-15EDAD91DC6F}"/>
                </a:ext>
              </a:extLst>
            </p:cNvPr>
            <p:cNvSpPr/>
            <p:nvPr/>
          </p:nvSpPr>
          <p:spPr>
            <a:xfrm>
              <a:off x="6401573" y="467024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7AEFBC0A-5960-B5CC-B4BE-D67BF63ABA04}"/>
                </a:ext>
              </a:extLst>
            </p:cNvPr>
            <p:cNvSpPr txBox="1"/>
            <p:nvPr/>
          </p:nvSpPr>
          <p:spPr>
            <a:xfrm>
              <a:off x="6411315" y="473092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88" name="TextBox 87">
              <a:extLst>
                <a:ext uri="{FF2B5EF4-FFF2-40B4-BE49-F238E27FC236}">
                  <a16:creationId xmlns:a16="http://schemas.microsoft.com/office/drawing/2014/main" id="{8E69546D-C186-60A3-2FAF-84C0AF2D7742}"/>
                </a:ext>
              </a:extLst>
            </p:cNvPr>
            <p:cNvSpPr txBox="1"/>
            <p:nvPr/>
          </p:nvSpPr>
          <p:spPr>
            <a:xfrm>
              <a:off x="6462588" y="495874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06</a:t>
              </a:r>
            </a:p>
          </p:txBody>
        </p:sp>
      </p:grpSp>
      <p:sp>
        <p:nvSpPr>
          <p:cNvPr id="90" name="TextBox 89">
            <a:extLst>
              <a:ext uri="{FF2B5EF4-FFF2-40B4-BE49-F238E27FC236}">
                <a16:creationId xmlns:a16="http://schemas.microsoft.com/office/drawing/2014/main" id="{DC5B4175-FC95-A3D2-E6B4-191A7EE15AC2}"/>
              </a:ext>
            </a:extLst>
          </p:cNvPr>
          <p:cNvSpPr txBox="1"/>
          <p:nvPr/>
        </p:nvSpPr>
        <p:spPr>
          <a:xfrm>
            <a:off x="8897551" y="4974303"/>
            <a:ext cx="2572482"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Analyzing and visualizing data patterns to clean and prepare data for analysis</a:t>
            </a:r>
            <a:endParaRPr lang="en-IN" sz="1200" dirty="0">
              <a:solidFill>
                <a:schemeClr val="accent1">
                  <a:lumMod val="75000"/>
                </a:schemeClr>
              </a:solidFill>
              <a:latin typeface="Century Gothic" panose="020B0502020202020204" pitchFamily="34" charset="0"/>
            </a:endParaRPr>
          </a:p>
        </p:txBody>
      </p:sp>
      <p:sp>
        <p:nvSpPr>
          <p:cNvPr id="91" name="TextBox 90">
            <a:extLst>
              <a:ext uri="{FF2B5EF4-FFF2-40B4-BE49-F238E27FC236}">
                <a16:creationId xmlns:a16="http://schemas.microsoft.com/office/drawing/2014/main" id="{54DBB6E1-297C-6D47-CC2A-798E0D7A601C}"/>
              </a:ext>
            </a:extLst>
          </p:cNvPr>
          <p:cNvSpPr txBox="1"/>
          <p:nvPr/>
        </p:nvSpPr>
        <p:spPr>
          <a:xfrm>
            <a:off x="3009210" y="4161582"/>
            <a:ext cx="2318266" cy="461665"/>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Extract meaningful patterns and trends from the data.</a:t>
            </a:r>
            <a:endParaRPr lang="en-IN" sz="1200" dirty="0">
              <a:solidFill>
                <a:schemeClr val="accent1">
                  <a:lumMod val="75000"/>
                </a:schemeClr>
              </a:solidFill>
              <a:latin typeface="Century Gothic" panose="020B0502020202020204" pitchFamily="34" charset="0"/>
            </a:endParaRPr>
          </a:p>
        </p:txBody>
      </p:sp>
      <p:sp>
        <p:nvSpPr>
          <p:cNvPr id="92" name="TextBox 91">
            <a:extLst>
              <a:ext uri="{FF2B5EF4-FFF2-40B4-BE49-F238E27FC236}">
                <a16:creationId xmlns:a16="http://schemas.microsoft.com/office/drawing/2014/main" id="{31C54EDE-D126-627B-10E8-40F6A6B780F8}"/>
              </a:ext>
            </a:extLst>
          </p:cNvPr>
          <p:cNvSpPr txBox="1"/>
          <p:nvPr/>
        </p:nvSpPr>
        <p:spPr>
          <a:xfrm>
            <a:off x="8958560" y="2855730"/>
            <a:ext cx="2473285"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Feature Engineering</a:t>
            </a:r>
          </a:p>
        </p:txBody>
      </p:sp>
      <p:sp>
        <p:nvSpPr>
          <p:cNvPr id="93" name="TextBox 92">
            <a:extLst>
              <a:ext uri="{FF2B5EF4-FFF2-40B4-BE49-F238E27FC236}">
                <a16:creationId xmlns:a16="http://schemas.microsoft.com/office/drawing/2014/main" id="{0737BCC5-B49A-C1FE-4BB3-A35A4A2B5A2F}"/>
              </a:ext>
            </a:extLst>
          </p:cNvPr>
          <p:cNvSpPr txBox="1"/>
          <p:nvPr/>
        </p:nvSpPr>
        <p:spPr>
          <a:xfrm>
            <a:off x="8915517" y="3285991"/>
            <a:ext cx="2542357" cy="461665"/>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Create RFM metrics to quantify customer behavior.</a:t>
            </a:r>
            <a:endParaRPr lang="en-IN" sz="1200" dirty="0">
              <a:solidFill>
                <a:schemeClr val="accent1">
                  <a:lumMod val="75000"/>
                </a:schemeClr>
              </a:solidFill>
              <a:latin typeface="Century Gothic" panose="020B0502020202020204" pitchFamily="34" charset="0"/>
            </a:endParaRPr>
          </a:p>
        </p:txBody>
      </p:sp>
      <p:sp>
        <p:nvSpPr>
          <p:cNvPr id="94" name="TextBox 93">
            <a:extLst>
              <a:ext uri="{FF2B5EF4-FFF2-40B4-BE49-F238E27FC236}">
                <a16:creationId xmlns:a16="http://schemas.microsoft.com/office/drawing/2014/main" id="{090AA666-87FD-6572-BDEA-78DF9B5F828E}"/>
              </a:ext>
            </a:extLst>
          </p:cNvPr>
          <p:cNvSpPr txBox="1"/>
          <p:nvPr/>
        </p:nvSpPr>
        <p:spPr>
          <a:xfrm>
            <a:off x="2828544" y="2122420"/>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RFM Analysis</a:t>
            </a:r>
          </a:p>
        </p:txBody>
      </p:sp>
      <p:sp>
        <p:nvSpPr>
          <p:cNvPr id="95" name="TextBox 94">
            <a:extLst>
              <a:ext uri="{FF2B5EF4-FFF2-40B4-BE49-F238E27FC236}">
                <a16:creationId xmlns:a16="http://schemas.microsoft.com/office/drawing/2014/main" id="{740BD77A-96B4-88B4-6721-1B04B270B9E2}"/>
              </a:ext>
            </a:extLst>
          </p:cNvPr>
          <p:cNvSpPr txBox="1"/>
          <p:nvPr/>
        </p:nvSpPr>
        <p:spPr>
          <a:xfrm>
            <a:off x="2828544" y="2529818"/>
            <a:ext cx="2542357" cy="461665"/>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Segment customers based on RFM scores.</a:t>
            </a:r>
            <a:endParaRPr lang="en-IN" sz="1200" dirty="0">
              <a:solidFill>
                <a:schemeClr val="accent1">
                  <a:lumMod val="75000"/>
                </a:schemeClr>
              </a:solidFill>
              <a:latin typeface="Century Gothic" panose="020B0502020202020204" pitchFamily="34" charset="0"/>
            </a:endParaRPr>
          </a:p>
        </p:txBody>
      </p:sp>
      <p:sp>
        <p:nvSpPr>
          <p:cNvPr id="96" name="TextBox 95">
            <a:extLst>
              <a:ext uri="{FF2B5EF4-FFF2-40B4-BE49-F238E27FC236}">
                <a16:creationId xmlns:a16="http://schemas.microsoft.com/office/drawing/2014/main" id="{BC60F573-C2F7-7F7C-0AE9-3AF3F6362CAB}"/>
              </a:ext>
            </a:extLst>
          </p:cNvPr>
          <p:cNvSpPr txBox="1"/>
          <p:nvPr/>
        </p:nvSpPr>
        <p:spPr>
          <a:xfrm>
            <a:off x="8904568" y="967770"/>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Clustering Analysis</a:t>
            </a:r>
          </a:p>
        </p:txBody>
      </p:sp>
      <p:sp>
        <p:nvSpPr>
          <p:cNvPr id="97" name="TextBox 96">
            <a:extLst>
              <a:ext uri="{FF2B5EF4-FFF2-40B4-BE49-F238E27FC236}">
                <a16:creationId xmlns:a16="http://schemas.microsoft.com/office/drawing/2014/main" id="{934AA990-8058-AFA5-3AEB-D3EB0478B4D1}"/>
              </a:ext>
            </a:extLst>
          </p:cNvPr>
          <p:cNvSpPr txBox="1"/>
          <p:nvPr/>
        </p:nvSpPr>
        <p:spPr>
          <a:xfrm>
            <a:off x="8925259" y="1370913"/>
            <a:ext cx="255451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Group customers with similar behavior using clustering techniques.</a:t>
            </a:r>
            <a:endParaRPr lang="en-IN" sz="1200" dirty="0">
              <a:solidFill>
                <a:schemeClr val="accent1">
                  <a:lumMod val="75000"/>
                </a:schemeClr>
              </a:solidFill>
              <a:latin typeface="Century Gothic" panose="020B0502020202020204" pitchFamily="34" charset="0"/>
            </a:endParaRPr>
          </a:p>
        </p:txBody>
      </p:sp>
      <p:sp>
        <p:nvSpPr>
          <p:cNvPr id="98" name="TextBox 97">
            <a:extLst>
              <a:ext uri="{FF2B5EF4-FFF2-40B4-BE49-F238E27FC236}">
                <a16:creationId xmlns:a16="http://schemas.microsoft.com/office/drawing/2014/main" id="{3F32E07F-AFF7-2335-C676-E8111E891F5F}"/>
              </a:ext>
            </a:extLst>
          </p:cNvPr>
          <p:cNvSpPr txBox="1"/>
          <p:nvPr/>
        </p:nvSpPr>
        <p:spPr>
          <a:xfrm>
            <a:off x="2838382" y="452545"/>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Churn Prediction</a:t>
            </a:r>
          </a:p>
        </p:txBody>
      </p:sp>
      <p:sp>
        <p:nvSpPr>
          <p:cNvPr id="99" name="TextBox 98">
            <a:extLst>
              <a:ext uri="{FF2B5EF4-FFF2-40B4-BE49-F238E27FC236}">
                <a16:creationId xmlns:a16="http://schemas.microsoft.com/office/drawing/2014/main" id="{D5677AB9-AD77-BC52-799E-B5D33030B44B}"/>
              </a:ext>
            </a:extLst>
          </p:cNvPr>
          <p:cNvSpPr txBox="1"/>
          <p:nvPr/>
        </p:nvSpPr>
        <p:spPr>
          <a:xfrm>
            <a:off x="2828204" y="850085"/>
            <a:ext cx="2584647" cy="461665"/>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Predict which customers are likely to stop purchasing.</a:t>
            </a:r>
            <a:endParaRPr lang="en-IN" sz="1200" dirty="0">
              <a:solidFill>
                <a:schemeClr val="accent1">
                  <a:lumMod val="75000"/>
                </a:schemeClr>
              </a:solidFill>
              <a:latin typeface="Century Gothic" panose="020B0502020202020204" pitchFamily="34" charset="0"/>
            </a:endParaRPr>
          </a:p>
        </p:txBody>
      </p:sp>
      <p:grpSp>
        <p:nvGrpSpPr>
          <p:cNvPr id="100" name="Group 99">
            <a:extLst>
              <a:ext uri="{FF2B5EF4-FFF2-40B4-BE49-F238E27FC236}">
                <a16:creationId xmlns:a16="http://schemas.microsoft.com/office/drawing/2014/main" id="{ECD5CCEC-7443-7B06-E431-35D62B727AB4}"/>
              </a:ext>
            </a:extLst>
          </p:cNvPr>
          <p:cNvGrpSpPr/>
          <p:nvPr/>
        </p:nvGrpSpPr>
        <p:grpSpPr>
          <a:xfrm>
            <a:off x="2838382" y="5061717"/>
            <a:ext cx="3847232" cy="1347605"/>
            <a:chOff x="4963887" y="5221960"/>
            <a:chExt cx="3847232" cy="1483780"/>
          </a:xfrm>
        </p:grpSpPr>
        <p:sp>
          <p:nvSpPr>
            <p:cNvPr id="101" name="Rectangle: Rounded Corners 100">
              <a:extLst>
                <a:ext uri="{FF2B5EF4-FFF2-40B4-BE49-F238E27FC236}">
                  <a16:creationId xmlns:a16="http://schemas.microsoft.com/office/drawing/2014/main" id="{C210FF8B-94F2-F858-20F0-28CB5095760B}"/>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Rounded Corners 101">
              <a:extLst>
                <a:ext uri="{FF2B5EF4-FFF2-40B4-BE49-F238E27FC236}">
                  <a16:creationId xmlns:a16="http://schemas.microsoft.com/office/drawing/2014/main" id="{49329FF5-D159-B752-F85C-F4FA3F552C9C}"/>
                </a:ext>
              </a:extLst>
            </p:cNvPr>
            <p:cNvSpPr/>
            <p:nvPr/>
          </p:nvSpPr>
          <p:spPr>
            <a:xfrm>
              <a:off x="7554238" y="5221960"/>
              <a:ext cx="1256880" cy="125688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03" name="Rectangle: Rounded Corners 102">
              <a:extLst>
                <a:ext uri="{FF2B5EF4-FFF2-40B4-BE49-F238E27FC236}">
                  <a16:creationId xmlns:a16="http://schemas.microsoft.com/office/drawing/2014/main" id="{71B860FF-F4CD-FBF0-17DF-C105560C2A28}"/>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A6100FD7-148D-6988-5D26-088131B3BD57}"/>
                </a:ext>
              </a:extLst>
            </p:cNvPr>
            <p:cNvSpPr txBox="1"/>
            <p:nvPr/>
          </p:nvSpPr>
          <p:spPr>
            <a:xfrm>
              <a:off x="7725005" y="5443669"/>
              <a:ext cx="915346" cy="307777"/>
            </a:xfrm>
            <a:prstGeom prst="rect">
              <a:avLst/>
            </a:prstGeom>
            <a:noFill/>
          </p:spPr>
          <p:txBody>
            <a:bodyPr wrap="square" rtlCol="0">
              <a:spAutoFit/>
            </a:bodyPr>
            <a:lstStyle/>
            <a:p>
              <a:pPr algn="ctr"/>
              <a:r>
                <a:rPr lang="en-US" sz="1400" dirty="0">
                  <a:solidFill>
                    <a:schemeClr val="accent1">
                      <a:lumMod val="75000"/>
                    </a:schemeClr>
                  </a:solidFill>
                  <a:latin typeface="Century Gothic" panose="020B0502020202020204" pitchFamily="34" charset="0"/>
                </a:rPr>
                <a:t>STEP</a:t>
              </a:r>
            </a:p>
          </p:txBody>
        </p:sp>
        <p:sp>
          <p:nvSpPr>
            <p:cNvPr id="105" name="TextBox 104">
              <a:extLst>
                <a:ext uri="{FF2B5EF4-FFF2-40B4-BE49-F238E27FC236}">
                  <a16:creationId xmlns:a16="http://schemas.microsoft.com/office/drawing/2014/main" id="{B53C5A3A-6C1C-CA95-A0FE-CEFA31FA5EE8}"/>
                </a:ext>
              </a:extLst>
            </p:cNvPr>
            <p:cNvSpPr txBox="1"/>
            <p:nvPr/>
          </p:nvSpPr>
          <p:spPr>
            <a:xfrm>
              <a:off x="7776278" y="5671484"/>
              <a:ext cx="812800" cy="646331"/>
            </a:xfrm>
            <a:prstGeom prst="rect">
              <a:avLst/>
            </a:prstGeom>
            <a:noFill/>
          </p:spPr>
          <p:txBody>
            <a:bodyPr wrap="square" rtlCol="0">
              <a:spAutoFit/>
            </a:bodyPr>
            <a:lstStyle/>
            <a:p>
              <a:pPr algn="ctr"/>
              <a:r>
                <a:rPr lang="en-US" sz="3600" dirty="0">
                  <a:solidFill>
                    <a:schemeClr val="accent1">
                      <a:lumMod val="50000"/>
                    </a:schemeClr>
                  </a:solidFill>
                  <a:latin typeface="Century Gothic" panose="020B0502020202020204" pitchFamily="34" charset="0"/>
                </a:rPr>
                <a:t>01</a:t>
              </a:r>
            </a:p>
          </p:txBody>
        </p:sp>
        <p:sp>
          <p:nvSpPr>
            <p:cNvPr id="106" name="TextBox 105">
              <a:extLst>
                <a:ext uri="{FF2B5EF4-FFF2-40B4-BE49-F238E27FC236}">
                  <a16:creationId xmlns:a16="http://schemas.microsoft.com/office/drawing/2014/main" id="{475109B7-3180-D085-FDBD-AB91343B5E5A}"/>
                </a:ext>
              </a:extLst>
            </p:cNvPr>
            <p:cNvSpPr txBox="1"/>
            <p:nvPr/>
          </p:nvSpPr>
          <p:spPr>
            <a:xfrm>
              <a:off x="5215304" y="6019513"/>
              <a:ext cx="2177909" cy="686227"/>
            </a:xfrm>
            <a:prstGeom prst="rect">
              <a:avLst/>
            </a:prstGeom>
            <a:noFill/>
          </p:spPr>
          <p:txBody>
            <a:bodyPr wrap="square" rtlCol="0">
              <a:spAutoFit/>
            </a:bodyPr>
            <a:lstStyle/>
            <a:p>
              <a:pPr algn="ctr"/>
              <a:r>
                <a:rPr lang="en-US" sz="1200" dirty="0">
                  <a:solidFill>
                    <a:schemeClr val="accent1">
                      <a:lumMod val="75000"/>
                    </a:schemeClr>
                  </a:solidFill>
                  <a:latin typeface="Century Gothic" panose="020B0502020202020204" pitchFamily="34" charset="0"/>
                </a:rPr>
                <a:t>Describe data sources and fields.</a:t>
              </a:r>
              <a:endParaRPr lang="en-IN" sz="1200" dirty="0">
                <a:solidFill>
                  <a:schemeClr val="accent1">
                    <a:lumMod val="75000"/>
                  </a:schemeClr>
                </a:solidFill>
                <a:latin typeface="Century Gothic" panose="020B0502020202020204" pitchFamily="34" charset="0"/>
              </a:endParaRPr>
            </a:p>
            <a:p>
              <a:pPr algn="ctr"/>
              <a:endParaRPr lang="en-US" sz="1050" dirty="0">
                <a:solidFill>
                  <a:schemeClr val="tx1">
                    <a:lumMod val="65000"/>
                    <a:lumOff val="35000"/>
                  </a:schemeClr>
                </a:solidFill>
                <a:latin typeface="Century Gothic" panose="020B0502020202020204" pitchFamily="34" charset="0"/>
              </a:endParaRPr>
            </a:p>
          </p:txBody>
        </p:sp>
        <p:sp>
          <p:nvSpPr>
            <p:cNvPr id="107" name="TextBox 106">
              <a:extLst>
                <a:ext uri="{FF2B5EF4-FFF2-40B4-BE49-F238E27FC236}">
                  <a16:creationId xmlns:a16="http://schemas.microsoft.com/office/drawing/2014/main" id="{4BA94C54-1606-A306-16DE-10C3D0E04FFC}"/>
                </a:ext>
              </a:extLst>
            </p:cNvPr>
            <p:cNvSpPr txBox="1"/>
            <p:nvPr/>
          </p:nvSpPr>
          <p:spPr>
            <a:xfrm>
              <a:off x="5188073" y="5297571"/>
              <a:ext cx="2219302" cy="646331"/>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Data Gathering &amp; Reading</a:t>
              </a:r>
            </a:p>
          </p:txBody>
        </p:sp>
      </p:grpSp>
      <p:pic>
        <p:nvPicPr>
          <p:cNvPr id="108" name="Picture 107">
            <a:extLst>
              <a:ext uri="{FF2B5EF4-FFF2-40B4-BE49-F238E27FC236}">
                <a16:creationId xmlns:a16="http://schemas.microsoft.com/office/drawing/2014/main" id="{EC874D15-ECCB-77EA-2FD6-E9ED28C5CC8A}"/>
              </a:ext>
            </a:extLst>
          </p:cNvPr>
          <p:cNvPicPr>
            <a:picLocks noChangeAspect="1"/>
          </p:cNvPicPr>
          <p:nvPr/>
        </p:nvPicPr>
        <p:blipFill>
          <a:blip r:embed="rId3">
            <a:biLevel thresh="25000"/>
            <a:alphaModFix amt="21000"/>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732520" y="1215142"/>
            <a:ext cx="4388324" cy="4388324"/>
          </a:xfrm>
          <a:prstGeom prst="rect">
            <a:avLst/>
          </a:prstGeom>
        </p:spPr>
      </p:pic>
      <p:sp>
        <p:nvSpPr>
          <p:cNvPr id="110" name="TextBox 109">
            <a:extLst>
              <a:ext uri="{FF2B5EF4-FFF2-40B4-BE49-F238E27FC236}">
                <a16:creationId xmlns:a16="http://schemas.microsoft.com/office/drawing/2014/main" id="{A4C731F5-7FEB-A28F-798E-804069822BC8}"/>
              </a:ext>
            </a:extLst>
          </p:cNvPr>
          <p:cNvSpPr txBox="1"/>
          <p:nvPr/>
        </p:nvSpPr>
        <p:spPr>
          <a:xfrm rot="16200000">
            <a:off x="-2270872" y="2921169"/>
            <a:ext cx="6964136" cy="1015663"/>
          </a:xfrm>
          <a:prstGeom prst="rect">
            <a:avLst/>
          </a:prstGeom>
          <a:noFill/>
        </p:spPr>
        <p:txBody>
          <a:bodyPr wrap="square">
            <a:spAutoFit/>
          </a:bodyPr>
          <a:lstStyle/>
          <a:p>
            <a:pPr algn="ctr"/>
            <a:r>
              <a:rPr lang="en-IN" sz="6000" b="1" dirty="0">
                <a:solidFill>
                  <a:schemeClr val="accent1">
                    <a:lumMod val="75000"/>
                  </a:schemeClr>
                </a:solidFill>
                <a:effectLst>
                  <a:outerShdw blurRad="50800" dist="38100" algn="l" rotWithShape="0">
                    <a:prstClr val="black">
                      <a:alpha val="40000"/>
                    </a:prstClr>
                  </a:outerShdw>
                </a:effectLst>
                <a:latin typeface="Times New Roman" panose="02020603050405020304" pitchFamily="18" charset="0"/>
                <a:ea typeface="+mj-ea"/>
                <a:cs typeface="Times New Roman" panose="02020603050405020304" pitchFamily="18" charset="0"/>
              </a:rPr>
              <a:t>WORK FLOW</a:t>
            </a:r>
          </a:p>
        </p:txBody>
      </p:sp>
    </p:spTree>
    <p:extLst>
      <p:ext uri="{BB962C8B-B14F-4D97-AF65-F5344CB8AC3E}">
        <p14:creationId xmlns:p14="http://schemas.microsoft.com/office/powerpoint/2010/main" val="1863416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28D246-1B4E-B768-FFBF-4EACD1A2C7F7}"/>
              </a:ext>
            </a:extLst>
          </p:cNvPr>
          <p:cNvSpPr>
            <a:spLocks noGrp="1"/>
          </p:cNvSpPr>
          <p:nvPr>
            <p:ph idx="1"/>
          </p:nvPr>
        </p:nvSpPr>
        <p:spPr/>
        <p:txBody>
          <a:bodyPr/>
          <a:lstStyle/>
          <a:p>
            <a:pPr marL="0" indent="0">
              <a:buNone/>
            </a:pPr>
            <a:r>
              <a:rPr lang="en-US" b="1" dirty="0">
                <a:latin typeface="Times New Roman" panose="02020603050405020304" pitchFamily="18" charset="0"/>
                <a:ea typeface="Calibri" panose="020F0502020204030204" pitchFamily="34" charset="0"/>
                <a:cs typeface="Times New Roman" panose="02020603050405020304" pitchFamily="18" charset="0"/>
              </a:rPr>
              <a:t>  01. Data Gathering and Reading</a:t>
            </a:r>
          </a:p>
          <a:p>
            <a:pPr>
              <a:lnSpc>
                <a:spcPct val="150000"/>
              </a:lnSpc>
              <a:spcAft>
                <a:spcPts val="300"/>
              </a:spcAft>
              <a:buFont typeface="Wingdings" panose="05000000000000000000" pitchFamily="2" charset="2"/>
              <a:buChar char="Ø"/>
            </a:pPr>
            <a:r>
              <a:rPr lang="en-US" sz="2400" b="1" u="sng" dirty="0">
                <a:latin typeface="Inter"/>
              </a:rPr>
              <a:t>Tools for Loading Data:</a:t>
            </a:r>
            <a:endParaRPr lang="en-US" sz="2400" u="sng" dirty="0">
              <a:latin typeface="Inter"/>
            </a:endParaRPr>
          </a:p>
          <a:p>
            <a:pPr lvl="1">
              <a:lnSpc>
                <a:spcPct val="150000"/>
              </a:lnSpc>
              <a:spcBef>
                <a:spcPts val="300"/>
              </a:spcBef>
            </a:pPr>
            <a:r>
              <a:rPr lang="en-US" dirty="0">
                <a:latin typeface="Inter"/>
              </a:rPr>
              <a:t>Python (Pandas, NumPy)</a:t>
            </a:r>
          </a:p>
          <a:p>
            <a:pPr marL="0" indent="0">
              <a:buNone/>
            </a:pPr>
            <a:endParaRPr lang="en-IN" dirty="0"/>
          </a:p>
        </p:txBody>
      </p:sp>
      <p:sp>
        <p:nvSpPr>
          <p:cNvPr id="3" name="Title 2">
            <a:extLst>
              <a:ext uri="{FF2B5EF4-FFF2-40B4-BE49-F238E27FC236}">
                <a16:creationId xmlns:a16="http://schemas.microsoft.com/office/drawing/2014/main" id="{6D7D50E3-5DB1-0354-6A79-0C9EF73C7193}"/>
              </a:ext>
            </a:extLst>
          </p:cNvPr>
          <p:cNvSpPr>
            <a:spLocks noGrp="1"/>
          </p:cNvSpPr>
          <p:nvPr>
            <p:ph type="title"/>
          </p:nvPr>
        </p:nvSpPr>
        <p:spPr>
          <a:xfrm>
            <a:off x="293914" y="277588"/>
            <a:ext cx="3461657" cy="914398"/>
          </a:xfrm>
        </p:spPr>
        <p:txBody>
          <a:bodyPr>
            <a:normAutofit/>
          </a:bodyPr>
          <a:lstStyle/>
          <a:p>
            <a:pPr>
              <a:lnSpc>
                <a:spcPct val="150000"/>
              </a:lnSpc>
              <a:spcBef>
                <a:spcPts val="300"/>
              </a:spcBef>
            </a:pPr>
            <a:r>
              <a:rPr lang="en-IN" dirty="0"/>
              <a:t>Data Fields:</a:t>
            </a:r>
          </a:p>
        </p:txBody>
      </p:sp>
      <p:sp>
        <p:nvSpPr>
          <p:cNvPr id="4" name="TextBox 3">
            <a:extLst>
              <a:ext uri="{FF2B5EF4-FFF2-40B4-BE49-F238E27FC236}">
                <a16:creationId xmlns:a16="http://schemas.microsoft.com/office/drawing/2014/main" id="{B4C2C698-A41A-CF9A-8109-90360E4D4BD6}"/>
              </a:ext>
            </a:extLst>
          </p:cNvPr>
          <p:cNvSpPr txBox="1"/>
          <p:nvPr/>
        </p:nvSpPr>
        <p:spPr>
          <a:xfrm>
            <a:off x="506186" y="1363435"/>
            <a:ext cx="3249385" cy="5070619"/>
          </a:xfrm>
          <a:prstGeom prst="rect">
            <a:avLst/>
          </a:prstGeom>
          <a:noFill/>
        </p:spPr>
        <p:txBody>
          <a:bodyPr wrap="square" rtlCol="0">
            <a:spAutoFit/>
          </a:bodyPr>
          <a:lstStyle/>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Customer ID, </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Invoice Number, </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Stock Code</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Invoice Date, </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Product Description, </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Quantity, </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Unit Price, </a:t>
            </a:r>
          </a:p>
          <a:p>
            <a:pPr marL="342900" indent="-342900">
              <a:lnSpc>
                <a:spcPct val="150000"/>
              </a:lnSpc>
              <a:spcBef>
                <a:spcPts val="300"/>
              </a:spcBef>
              <a:buFont typeface="Arial" panose="020B0604020202020204" pitchFamily="34" charset="0"/>
              <a:buChar char="•"/>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Country.</a:t>
            </a:r>
          </a:p>
          <a:p>
            <a:endParaRPr lang="en-IN" dirty="0"/>
          </a:p>
        </p:txBody>
      </p:sp>
      <p:pic>
        <p:nvPicPr>
          <p:cNvPr id="6" name="Picture 5">
            <a:extLst>
              <a:ext uri="{FF2B5EF4-FFF2-40B4-BE49-F238E27FC236}">
                <a16:creationId xmlns:a16="http://schemas.microsoft.com/office/drawing/2014/main" id="{0E3D62B3-2FFC-F204-25C5-24BC5E692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9478" y="2906485"/>
            <a:ext cx="7916577" cy="2400301"/>
          </a:xfrm>
          <a:prstGeom prst="rect">
            <a:avLst/>
          </a:prstGeom>
        </p:spPr>
      </p:pic>
    </p:spTree>
    <p:extLst>
      <p:ext uri="{BB962C8B-B14F-4D97-AF65-F5344CB8AC3E}">
        <p14:creationId xmlns:p14="http://schemas.microsoft.com/office/powerpoint/2010/main" val="105294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ea typeface="Calibri" panose="020F0502020204030204" pitchFamily="34" charset="0"/>
                <a:cs typeface="Calibri" panose="020F0502020204030204" pitchFamily="34" charset="0"/>
              </a:rPr>
              <a:t>02. Data Preprocessing</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371600"/>
            <a:ext cx="10834234" cy="4701541"/>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1"/>
            <a:r>
              <a:rPr lang="en-US" b="1" dirty="0">
                <a:solidFill>
                  <a:schemeClr val="tx1"/>
                </a:solidFill>
              </a:rPr>
              <a:t>Outcome: </a:t>
            </a:r>
            <a:r>
              <a:rPr lang="en-US" dirty="0">
                <a:solidFill>
                  <a:schemeClr val="tx1"/>
                </a:solidFill>
              </a:rPr>
              <a:t>Clean, structured data ready for analysis.</a:t>
            </a:r>
          </a:p>
        </p:txBody>
      </p:sp>
      <p:graphicFrame>
        <p:nvGraphicFramePr>
          <p:cNvPr id="5" name="Table Placeholder 6" descr="A timeline of the product launch">
            <a:extLst>
              <a:ext uri="{FF2B5EF4-FFF2-40B4-BE49-F238E27FC236}">
                <a16:creationId xmlns:a16="http://schemas.microsoft.com/office/drawing/2014/main" id="{2CC1C5C4-5DAA-461D-C1B6-615845EAA5DF}"/>
              </a:ext>
            </a:extLst>
          </p:cNvPr>
          <p:cNvGraphicFramePr>
            <a:graphicFrameLocks/>
          </p:cNvGraphicFramePr>
          <p:nvPr>
            <p:extLst>
              <p:ext uri="{D42A27DB-BD31-4B8C-83A1-F6EECF244321}">
                <p14:modId xmlns:p14="http://schemas.microsoft.com/office/powerpoint/2010/main" val="1883314527"/>
              </p:ext>
            </p:extLst>
          </p:nvPr>
        </p:nvGraphicFramePr>
        <p:xfrm>
          <a:off x="1921668" y="2096635"/>
          <a:ext cx="8348663" cy="3775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2459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27D4B-FFBA-AC2C-C167-1E895EC1AECC}"/>
              </a:ext>
            </a:extLst>
          </p:cNvPr>
          <p:cNvSpPr>
            <a:spLocks noGrp="1"/>
          </p:cNvSpPr>
          <p:nvPr>
            <p:ph type="title"/>
          </p:nvPr>
        </p:nvSpPr>
        <p:spPr/>
        <p:txBody>
          <a:bodyPr/>
          <a:lstStyle/>
          <a:p>
            <a:endParaRPr lang="en-IN"/>
          </a:p>
        </p:txBody>
      </p:sp>
      <p:pic>
        <p:nvPicPr>
          <p:cNvPr id="11" name="Content Placeholder 10">
            <a:extLst>
              <a:ext uri="{FF2B5EF4-FFF2-40B4-BE49-F238E27FC236}">
                <a16:creationId xmlns:a16="http://schemas.microsoft.com/office/drawing/2014/main" id="{8374016C-FE90-FA2C-0022-4A9A94852D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6428"/>
          <a:stretch>
            <a:fillRect/>
          </a:stretch>
        </p:blipFill>
        <p:spPr>
          <a:xfrm>
            <a:off x="0" y="0"/>
            <a:ext cx="12192000" cy="6858000"/>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2">
              <a:lumMod val="75000"/>
            </a:schemeClr>
          </a:solidFill>
        </p:spPr>
      </p:pic>
      <p:sp>
        <p:nvSpPr>
          <p:cNvPr id="12" name="object 3" descr="Beige rectangle">
            <a:extLst>
              <a:ext uri="{FF2B5EF4-FFF2-40B4-BE49-F238E27FC236}">
                <a16:creationId xmlns:a16="http://schemas.microsoft.com/office/drawing/2014/main" id="{EE63877E-0655-A7E0-3916-99D1AC3991F0}"/>
              </a:ext>
            </a:extLst>
          </p:cNvPr>
          <p:cNvSpPr/>
          <p:nvPr/>
        </p:nvSpPr>
        <p:spPr>
          <a:xfrm>
            <a:off x="0" y="0"/>
            <a:ext cx="4206599" cy="6857999"/>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bg1">
              <a:lumMod val="50000"/>
            </a:schemeClr>
          </a:solidFill>
        </p:spPr>
        <p:txBody>
          <a:bodyPr wrap="square" lIns="0" tIns="0" rIns="0" bIns="0" rtlCol="0"/>
          <a:lstStyle/>
          <a:p>
            <a:endParaRPr lang="en-US" dirty="0"/>
          </a:p>
        </p:txBody>
      </p:sp>
      <p:sp>
        <p:nvSpPr>
          <p:cNvPr id="9" name="object 6" descr="Blue rectangle">
            <a:extLst>
              <a:ext uri="{FF2B5EF4-FFF2-40B4-BE49-F238E27FC236}">
                <a16:creationId xmlns:a16="http://schemas.microsoft.com/office/drawing/2014/main" id="{B1476E2E-C02F-7585-F6A0-94DF674060FB}"/>
              </a:ext>
            </a:extLst>
          </p:cNvPr>
          <p:cNvSpPr/>
          <p:nvPr/>
        </p:nvSpPr>
        <p:spPr>
          <a:xfrm>
            <a:off x="253919" y="212100"/>
            <a:ext cx="4938148" cy="6417123"/>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1">
              <a:lumMod val="60000"/>
              <a:lumOff val="40000"/>
            </a:schemeClr>
          </a:solidFill>
        </p:spPr>
        <p:txBody>
          <a:bodyPr wrap="square" lIns="0" tIns="0" rIns="0" bIns="0" rtlCol="0"/>
          <a:lstStyle/>
          <a:p>
            <a:endParaRPr lang="en-US" sz="2800" dirty="0"/>
          </a:p>
        </p:txBody>
      </p:sp>
      <p:sp>
        <p:nvSpPr>
          <p:cNvPr id="13" name="TextBox 12">
            <a:extLst>
              <a:ext uri="{FF2B5EF4-FFF2-40B4-BE49-F238E27FC236}">
                <a16:creationId xmlns:a16="http://schemas.microsoft.com/office/drawing/2014/main" id="{2E50B086-8A44-8C1E-0CC6-FCBA9105D0E0}"/>
              </a:ext>
            </a:extLst>
          </p:cNvPr>
          <p:cNvSpPr txBox="1"/>
          <p:nvPr/>
        </p:nvSpPr>
        <p:spPr>
          <a:xfrm>
            <a:off x="474030" y="216448"/>
            <a:ext cx="3984171" cy="553998"/>
          </a:xfrm>
          <a:prstGeom prst="rect">
            <a:avLst/>
          </a:prstGeom>
          <a:noFill/>
        </p:spPr>
        <p:txBody>
          <a:bodyPr wrap="square" rtlCol="0">
            <a:spAutoFit/>
          </a:bodyPr>
          <a:lstStyle/>
          <a:p>
            <a:r>
              <a:rPr lang="en-US" sz="3000" b="1" dirty="0">
                <a:solidFill>
                  <a:schemeClr val="bg2">
                    <a:lumMod val="10000"/>
                  </a:schemeClr>
                </a:solidFill>
              </a:rPr>
              <a:t>03. Key Data Insights</a:t>
            </a:r>
            <a:endParaRPr lang="en-IN" sz="3000" dirty="0">
              <a:solidFill>
                <a:schemeClr val="bg2">
                  <a:lumMod val="10000"/>
                </a:schemeClr>
              </a:solidFill>
            </a:endParaRPr>
          </a:p>
        </p:txBody>
      </p:sp>
      <p:cxnSp>
        <p:nvCxnSpPr>
          <p:cNvPr id="15" name="Straight Connector 14">
            <a:extLst>
              <a:ext uri="{FF2B5EF4-FFF2-40B4-BE49-F238E27FC236}">
                <a16:creationId xmlns:a16="http://schemas.microsoft.com/office/drawing/2014/main" id="{BC236C46-4479-6D41-375D-6C03368DAAF6}"/>
              </a:ext>
            </a:extLst>
          </p:cNvPr>
          <p:cNvCxnSpPr>
            <a:cxnSpLocks/>
          </p:cNvCxnSpPr>
          <p:nvPr/>
        </p:nvCxnSpPr>
        <p:spPr>
          <a:xfrm>
            <a:off x="474030" y="767372"/>
            <a:ext cx="3682093" cy="0"/>
          </a:xfrm>
          <a:prstGeom prst="line">
            <a:avLst/>
          </a:prstGeom>
        </p:spPr>
        <p:style>
          <a:lnRef idx="3">
            <a:schemeClr val="accent3"/>
          </a:lnRef>
          <a:fillRef idx="0">
            <a:schemeClr val="accent3"/>
          </a:fillRef>
          <a:effectRef idx="2">
            <a:schemeClr val="accent3"/>
          </a:effectRef>
          <a:fontRef idx="minor">
            <a:schemeClr val="tx1"/>
          </a:fontRef>
        </p:style>
      </p:cxnSp>
      <p:sp>
        <p:nvSpPr>
          <p:cNvPr id="16" name="TextBox 15">
            <a:extLst>
              <a:ext uri="{FF2B5EF4-FFF2-40B4-BE49-F238E27FC236}">
                <a16:creationId xmlns:a16="http://schemas.microsoft.com/office/drawing/2014/main" id="{8E6E4FEA-7A91-7BE5-9171-363555C479C4}"/>
              </a:ext>
            </a:extLst>
          </p:cNvPr>
          <p:cNvSpPr txBox="1"/>
          <p:nvPr/>
        </p:nvSpPr>
        <p:spPr>
          <a:xfrm>
            <a:off x="588032" y="910052"/>
            <a:ext cx="4269922" cy="6155531"/>
          </a:xfrm>
          <a:prstGeom prst="rect">
            <a:avLst/>
          </a:prstGeom>
          <a:noFill/>
        </p:spPr>
        <p:txBody>
          <a:bodyPr wrap="square" rtlCol="0">
            <a:spAutoFit/>
          </a:bodyPr>
          <a:lstStyle/>
          <a:p>
            <a:pPr marL="342900" indent="-342900">
              <a:buFont typeface="Wingdings" panose="05000000000000000000" pitchFamily="2" charset="2"/>
              <a:buChar char="q"/>
            </a:pPr>
            <a:r>
              <a:rPr lang="en-US" sz="2200" b="1" dirty="0"/>
              <a:t>Most Active Countries (Bar Chart)</a:t>
            </a:r>
          </a:p>
          <a:p>
            <a:pPr marL="342900" indent="-342900">
              <a:buFont typeface="Wingdings" panose="05000000000000000000" pitchFamily="2" charset="2"/>
              <a:buChar char="q"/>
            </a:pPr>
            <a:endParaRPr lang="en-US" sz="2200" b="1" dirty="0"/>
          </a:p>
          <a:p>
            <a:pPr marL="342900" indent="-342900">
              <a:buFont typeface="Wingdings" panose="05000000000000000000" pitchFamily="2" charset="2"/>
              <a:buChar char="q"/>
            </a:pPr>
            <a:r>
              <a:rPr lang="en-US" sz="2200" b="1" dirty="0"/>
              <a:t>High-Priced Products (Table)</a:t>
            </a:r>
          </a:p>
          <a:p>
            <a:pPr marL="342900" indent="-342900">
              <a:buFont typeface="Wingdings" panose="05000000000000000000" pitchFamily="2" charset="2"/>
              <a:buChar char="q"/>
            </a:pPr>
            <a:endParaRPr lang="en-US" sz="2200" b="1" dirty="0"/>
          </a:p>
          <a:p>
            <a:pPr marL="342900" indent="-342900">
              <a:buFont typeface="Wingdings" panose="05000000000000000000" pitchFamily="2" charset="2"/>
              <a:buChar char="q"/>
            </a:pPr>
            <a:r>
              <a:rPr lang="en-US" sz="2200" b="1" dirty="0"/>
              <a:t>Top Revenue-Generating Products (Bar Chart)</a:t>
            </a:r>
          </a:p>
          <a:p>
            <a:endParaRPr lang="en-US" sz="2200" b="1" dirty="0"/>
          </a:p>
          <a:p>
            <a:pPr marL="342900" indent="-342900">
              <a:buFont typeface="Wingdings" panose="05000000000000000000" pitchFamily="2" charset="2"/>
              <a:buChar char="q"/>
            </a:pPr>
            <a:r>
              <a:rPr lang="en-US" sz="2200" b="1" dirty="0"/>
              <a:t>Revenue Trends Over Time (Line Chart)</a:t>
            </a:r>
          </a:p>
          <a:p>
            <a:endParaRPr lang="en-US" sz="2200" b="1" dirty="0"/>
          </a:p>
          <a:p>
            <a:pPr marL="342900" indent="-342900">
              <a:buFont typeface="Wingdings" panose="05000000000000000000" pitchFamily="2" charset="2"/>
              <a:buChar char="q"/>
            </a:pPr>
            <a:r>
              <a:rPr lang="en-US" sz="2200" b="1" dirty="0"/>
              <a:t>Monthly Revenue Distribution (Bar Chart)</a:t>
            </a:r>
          </a:p>
          <a:p>
            <a:endParaRPr lang="en-US" sz="2200" b="1" dirty="0"/>
          </a:p>
          <a:p>
            <a:pPr marL="342900" indent="-342900">
              <a:buFont typeface="Wingdings" panose="05000000000000000000" pitchFamily="2" charset="2"/>
              <a:buChar char="q"/>
            </a:pPr>
            <a:r>
              <a:rPr lang="en-US" sz="2200" b="1" dirty="0"/>
              <a:t>Sales by Country (Map Visualization)</a:t>
            </a:r>
          </a:p>
          <a:p>
            <a:endParaRPr lang="en-US" sz="2400" b="1" dirty="0"/>
          </a:p>
          <a:p>
            <a:endParaRPr lang="en-US" b="1" dirty="0"/>
          </a:p>
        </p:txBody>
      </p:sp>
    </p:spTree>
    <p:extLst>
      <p:ext uri="{BB962C8B-B14F-4D97-AF65-F5344CB8AC3E}">
        <p14:creationId xmlns:p14="http://schemas.microsoft.com/office/powerpoint/2010/main" val="1344420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90000"/>
            <a:lumOff val="1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68F6CC-202E-A938-B71B-9377510A9F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897" y="114301"/>
            <a:ext cx="3267073" cy="3428998"/>
          </a:xfrm>
          <a:prstGeom prst="rect">
            <a:avLst/>
          </a:prstGeom>
        </p:spPr>
      </p:pic>
      <p:pic>
        <p:nvPicPr>
          <p:cNvPr id="9" name="Picture 8">
            <a:extLst>
              <a:ext uri="{FF2B5EF4-FFF2-40B4-BE49-F238E27FC236}">
                <a16:creationId xmlns:a16="http://schemas.microsoft.com/office/drawing/2014/main" id="{4F9F220A-01F1-EDC7-B157-B2E5C84D3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4996" y="114301"/>
            <a:ext cx="5270046" cy="3725799"/>
          </a:xfrm>
          <a:prstGeom prst="rect">
            <a:avLst/>
          </a:prstGeom>
        </p:spPr>
      </p:pic>
      <p:pic>
        <p:nvPicPr>
          <p:cNvPr id="11" name="Picture 10">
            <a:extLst>
              <a:ext uri="{FF2B5EF4-FFF2-40B4-BE49-F238E27FC236}">
                <a16:creationId xmlns:a16="http://schemas.microsoft.com/office/drawing/2014/main" id="{EB13C95F-6797-B342-9DB5-8A187CEAC3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958" y="3739244"/>
            <a:ext cx="6270171" cy="3004456"/>
          </a:xfrm>
          <a:prstGeom prst="rect">
            <a:avLst/>
          </a:prstGeom>
        </p:spPr>
      </p:pic>
      <p:sp>
        <p:nvSpPr>
          <p:cNvPr id="12" name="TextBox 11">
            <a:extLst>
              <a:ext uri="{FF2B5EF4-FFF2-40B4-BE49-F238E27FC236}">
                <a16:creationId xmlns:a16="http://schemas.microsoft.com/office/drawing/2014/main" id="{5AD41193-B15B-7B3E-2549-A239622B4070}"/>
              </a:ext>
            </a:extLst>
          </p:cNvPr>
          <p:cNvSpPr txBox="1"/>
          <p:nvPr/>
        </p:nvSpPr>
        <p:spPr>
          <a:xfrm>
            <a:off x="3614057" y="1462369"/>
            <a:ext cx="2481943" cy="707886"/>
          </a:xfrm>
          <a:prstGeom prst="rect">
            <a:avLst/>
          </a:prstGeom>
          <a:noFill/>
        </p:spPr>
        <p:txBody>
          <a:bodyPr wrap="square" rtlCol="0">
            <a:spAutoFit/>
          </a:bodyPr>
          <a:lstStyle/>
          <a:p>
            <a:r>
              <a:rPr lang="en-US" sz="2000" dirty="0">
                <a:solidFill>
                  <a:schemeClr val="bg1"/>
                </a:solidFill>
              </a:rPr>
              <a:t>High-priced Products</a:t>
            </a:r>
          </a:p>
          <a:p>
            <a:r>
              <a:rPr lang="en-US" sz="2000" dirty="0">
                <a:solidFill>
                  <a:schemeClr val="bg1"/>
                </a:solidFill>
              </a:rPr>
              <a:t>(Table)</a:t>
            </a:r>
            <a:endParaRPr lang="en-IN" sz="2000" dirty="0">
              <a:solidFill>
                <a:schemeClr val="bg1"/>
              </a:solidFill>
            </a:endParaRPr>
          </a:p>
        </p:txBody>
      </p:sp>
      <p:sp>
        <p:nvSpPr>
          <p:cNvPr id="14" name="TextBox 13">
            <a:extLst>
              <a:ext uri="{FF2B5EF4-FFF2-40B4-BE49-F238E27FC236}">
                <a16:creationId xmlns:a16="http://schemas.microsoft.com/office/drawing/2014/main" id="{58750F72-90AA-4801-6DBC-F20659C4DED1}"/>
              </a:ext>
            </a:extLst>
          </p:cNvPr>
          <p:cNvSpPr txBox="1"/>
          <p:nvPr/>
        </p:nvSpPr>
        <p:spPr>
          <a:xfrm>
            <a:off x="6417129" y="5055146"/>
            <a:ext cx="4263118" cy="707886"/>
          </a:xfrm>
          <a:prstGeom prst="rect">
            <a:avLst/>
          </a:prstGeom>
          <a:noFill/>
        </p:spPr>
        <p:txBody>
          <a:bodyPr wrap="square" rtlCol="0">
            <a:spAutoFit/>
          </a:bodyPr>
          <a:lstStyle/>
          <a:p>
            <a:r>
              <a:rPr lang="en-US" sz="2000" dirty="0">
                <a:solidFill>
                  <a:schemeClr val="bg1"/>
                </a:solidFill>
              </a:rPr>
              <a:t>Top Revenue-Generating Products </a:t>
            </a:r>
          </a:p>
          <a:p>
            <a:r>
              <a:rPr lang="en-US" sz="2000" dirty="0">
                <a:solidFill>
                  <a:schemeClr val="bg1"/>
                </a:solidFill>
              </a:rPr>
              <a:t>(Bar Chart)</a:t>
            </a:r>
            <a:endParaRPr lang="en-IN" sz="2000" dirty="0">
              <a:solidFill>
                <a:schemeClr val="bg1"/>
              </a:solidFill>
            </a:endParaRPr>
          </a:p>
        </p:txBody>
      </p:sp>
      <p:sp>
        <p:nvSpPr>
          <p:cNvPr id="15" name="TextBox 14">
            <a:extLst>
              <a:ext uri="{FF2B5EF4-FFF2-40B4-BE49-F238E27FC236}">
                <a16:creationId xmlns:a16="http://schemas.microsoft.com/office/drawing/2014/main" id="{3EC09DB3-0ABB-8A8E-C2C3-B4C172552E11}"/>
              </a:ext>
            </a:extLst>
          </p:cNvPr>
          <p:cNvSpPr txBox="1"/>
          <p:nvPr/>
        </p:nvSpPr>
        <p:spPr>
          <a:xfrm>
            <a:off x="8140474" y="3890193"/>
            <a:ext cx="4263118" cy="400110"/>
          </a:xfrm>
          <a:prstGeom prst="rect">
            <a:avLst/>
          </a:prstGeom>
          <a:noFill/>
        </p:spPr>
        <p:txBody>
          <a:bodyPr wrap="square" rtlCol="0">
            <a:spAutoFit/>
          </a:bodyPr>
          <a:lstStyle/>
          <a:p>
            <a:r>
              <a:rPr lang="en-US" sz="2000" dirty="0">
                <a:solidFill>
                  <a:schemeClr val="bg1"/>
                </a:solidFill>
              </a:rPr>
              <a:t>Most Active Countries (Bar Chart)</a:t>
            </a:r>
            <a:endParaRPr lang="en-IN" sz="2000" dirty="0">
              <a:solidFill>
                <a:schemeClr val="bg1"/>
              </a:solidFill>
            </a:endParaRPr>
          </a:p>
        </p:txBody>
      </p:sp>
    </p:spTree>
    <p:extLst>
      <p:ext uri="{BB962C8B-B14F-4D97-AF65-F5344CB8AC3E}">
        <p14:creationId xmlns:p14="http://schemas.microsoft.com/office/powerpoint/2010/main" val="324445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9A3A46-D352-B853-7FBD-8785865FF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943" y="120640"/>
            <a:ext cx="5332757" cy="3381534"/>
          </a:xfrm>
          <a:prstGeom prst="rect">
            <a:avLst/>
          </a:prstGeom>
        </p:spPr>
      </p:pic>
      <p:pic>
        <p:nvPicPr>
          <p:cNvPr id="5" name="Picture 4">
            <a:extLst>
              <a:ext uri="{FF2B5EF4-FFF2-40B4-BE49-F238E27FC236}">
                <a16:creationId xmlns:a16="http://schemas.microsoft.com/office/drawing/2014/main" id="{0A689F27-049D-4746-92A6-ADFC9C24F5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943" y="3624896"/>
            <a:ext cx="6998271" cy="3112464"/>
          </a:xfrm>
          <a:prstGeom prst="rect">
            <a:avLst/>
          </a:prstGeom>
        </p:spPr>
      </p:pic>
      <p:pic>
        <p:nvPicPr>
          <p:cNvPr id="6" name="Picture 5">
            <a:extLst>
              <a:ext uri="{FF2B5EF4-FFF2-40B4-BE49-F238E27FC236}">
                <a16:creationId xmlns:a16="http://schemas.microsoft.com/office/drawing/2014/main" id="{34BE4BA4-8201-55EE-9188-35EA30EF2CE0}"/>
              </a:ext>
            </a:extLst>
          </p:cNvPr>
          <p:cNvPicPr>
            <a:picLocks noChangeAspect="1"/>
          </p:cNvPicPr>
          <p:nvPr/>
        </p:nvPicPr>
        <p:blipFill>
          <a:blip r:embed="rId4"/>
          <a:stretch>
            <a:fillRect/>
          </a:stretch>
        </p:blipFill>
        <p:spPr>
          <a:xfrm>
            <a:off x="7952547" y="294344"/>
            <a:ext cx="3971510" cy="33220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63D867AE-ABD7-895B-4477-53693DA76120}"/>
              </a:ext>
            </a:extLst>
          </p:cNvPr>
          <p:cNvSpPr txBox="1"/>
          <p:nvPr/>
        </p:nvSpPr>
        <p:spPr>
          <a:xfrm>
            <a:off x="8177184" y="3616427"/>
            <a:ext cx="6098720" cy="369332"/>
          </a:xfrm>
          <a:prstGeom prst="rect">
            <a:avLst/>
          </a:prstGeom>
          <a:noFill/>
        </p:spPr>
        <p:txBody>
          <a:bodyPr wrap="square">
            <a:spAutoFit/>
          </a:bodyPr>
          <a:lstStyle/>
          <a:p>
            <a:pPr marL="0" indent="0">
              <a:buNone/>
            </a:pPr>
            <a:r>
              <a:rPr lang="en-US" sz="1800" b="1" dirty="0">
                <a:solidFill>
                  <a:schemeClr val="bg2">
                    <a:lumMod val="20000"/>
                    <a:lumOff val="80000"/>
                  </a:schemeClr>
                </a:solidFill>
              </a:rPr>
              <a:t>Sales by Country (Map Visualization)</a:t>
            </a:r>
          </a:p>
        </p:txBody>
      </p:sp>
      <p:sp>
        <p:nvSpPr>
          <p:cNvPr id="10" name="TextBox 9">
            <a:extLst>
              <a:ext uri="{FF2B5EF4-FFF2-40B4-BE49-F238E27FC236}">
                <a16:creationId xmlns:a16="http://schemas.microsoft.com/office/drawing/2014/main" id="{4044A7F1-BD05-99B2-E920-DA00E7AD45FF}"/>
              </a:ext>
            </a:extLst>
          </p:cNvPr>
          <p:cNvSpPr txBox="1"/>
          <p:nvPr/>
        </p:nvSpPr>
        <p:spPr>
          <a:xfrm>
            <a:off x="7437665" y="5181128"/>
            <a:ext cx="7135584" cy="646331"/>
          </a:xfrm>
          <a:prstGeom prst="rect">
            <a:avLst/>
          </a:prstGeom>
          <a:noFill/>
        </p:spPr>
        <p:txBody>
          <a:bodyPr wrap="square">
            <a:spAutoFit/>
          </a:bodyPr>
          <a:lstStyle/>
          <a:p>
            <a:pPr marL="0" indent="0">
              <a:buNone/>
            </a:pPr>
            <a:r>
              <a:rPr lang="en-US" sz="1800" b="1" dirty="0">
                <a:solidFill>
                  <a:schemeClr val="bg2">
                    <a:lumMod val="20000"/>
                    <a:lumOff val="80000"/>
                  </a:schemeClr>
                </a:solidFill>
              </a:rPr>
              <a:t>Monthly Revenue Distribution </a:t>
            </a:r>
          </a:p>
          <a:p>
            <a:pPr marL="0" indent="0">
              <a:buNone/>
            </a:pPr>
            <a:r>
              <a:rPr lang="en-US" sz="1800" b="1" dirty="0">
                <a:solidFill>
                  <a:schemeClr val="bg2">
                    <a:lumMod val="20000"/>
                    <a:lumOff val="80000"/>
                  </a:schemeClr>
                </a:solidFill>
              </a:rPr>
              <a:t>(Bar Chart)</a:t>
            </a:r>
          </a:p>
        </p:txBody>
      </p:sp>
      <p:sp>
        <p:nvSpPr>
          <p:cNvPr id="12" name="TextBox 11">
            <a:extLst>
              <a:ext uri="{FF2B5EF4-FFF2-40B4-BE49-F238E27FC236}">
                <a16:creationId xmlns:a16="http://schemas.microsoft.com/office/drawing/2014/main" id="{294F598E-5F4D-7413-198F-9C3CD7145D62}"/>
              </a:ext>
            </a:extLst>
          </p:cNvPr>
          <p:cNvSpPr txBox="1"/>
          <p:nvPr/>
        </p:nvSpPr>
        <p:spPr>
          <a:xfrm>
            <a:off x="5600701" y="1030541"/>
            <a:ext cx="2237014" cy="646331"/>
          </a:xfrm>
          <a:prstGeom prst="rect">
            <a:avLst/>
          </a:prstGeom>
          <a:noFill/>
        </p:spPr>
        <p:txBody>
          <a:bodyPr wrap="square">
            <a:spAutoFit/>
          </a:bodyPr>
          <a:lstStyle/>
          <a:p>
            <a:pPr marL="0" indent="0">
              <a:buNone/>
            </a:pPr>
            <a:r>
              <a:rPr lang="en-US" sz="1800" b="1" dirty="0">
                <a:solidFill>
                  <a:schemeClr val="bg2">
                    <a:lumMod val="20000"/>
                    <a:lumOff val="80000"/>
                  </a:schemeClr>
                </a:solidFill>
              </a:rPr>
              <a:t>Revenue Trends Over</a:t>
            </a:r>
          </a:p>
          <a:p>
            <a:pPr marL="0" indent="0">
              <a:buNone/>
            </a:pPr>
            <a:r>
              <a:rPr lang="en-US" sz="1800" b="1" dirty="0">
                <a:solidFill>
                  <a:schemeClr val="bg2">
                    <a:lumMod val="20000"/>
                    <a:lumOff val="80000"/>
                  </a:schemeClr>
                </a:solidFill>
              </a:rPr>
              <a:t> Time (Line Chart)</a:t>
            </a:r>
          </a:p>
        </p:txBody>
      </p:sp>
    </p:spTree>
    <p:extLst>
      <p:ext uri="{BB962C8B-B14F-4D97-AF65-F5344CB8AC3E}">
        <p14:creationId xmlns:p14="http://schemas.microsoft.com/office/powerpoint/2010/main" val="2759185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457DB-96D8-4CAA-D78B-698402EC9581}"/>
              </a:ext>
            </a:extLst>
          </p:cNvPr>
          <p:cNvSpPr>
            <a:spLocks noGrp="1"/>
          </p:cNvSpPr>
          <p:nvPr>
            <p:ph type="title"/>
          </p:nvPr>
        </p:nvSpPr>
        <p:spPr/>
        <p:txBody>
          <a:bodyPr/>
          <a:lstStyle/>
          <a:p>
            <a:r>
              <a:rPr lang="en-US" dirty="0">
                <a:ea typeface="Calibri" panose="020F0502020204030204" pitchFamily="34" charset="0"/>
                <a:cs typeface="Calibri" panose="020F0502020204030204" pitchFamily="34" charset="0"/>
              </a:rPr>
              <a:t>04. Feature Engineering</a:t>
            </a:r>
            <a:endParaRPr lang="en-IN" dirty="0"/>
          </a:p>
        </p:txBody>
      </p:sp>
      <p:graphicFrame>
        <p:nvGraphicFramePr>
          <p:cNvPr id="5" name="Content Placeholder 4">
            <a:extLst>
              <a:ext uri="{FF2B5EF4-FFF2-40B4-BE49-F238E27FC236}">
                <a16:creationId xmlns:a16="http://schemas.microsoft.com/office/drawing/2014/main" id="{500C524F-52EF-F3C2-093E-F9F2E8959524}"/>
              </a:ext>
            </a:extLst>
          </p:cNvPr>
          <p:cNvGraphicFramePr>
            <a:graphicFrameLocks noGrp="1"/>
          </p:cNvGraphicFramePr>
          <p:nvPr>
            <p:ph idx="1"/>
            <p:extLst>
              <p:ext uri="{D42A27DB-BD31-4B8C-83A1-F6EECF244321}">
                <p14:modId xmlns:p14="http://schemas.microsoft.com/office/powerpoint/2010/main" val="3226908151"/>
              </p:ext>
            </p:extLst>
          </p:nvPr>
        </p:nvGraphicFramePr>
        <p:xfrm>
          <a:off x="1409700" y="1789882"/>
          <a:ext cx="9372599" cy="1845000"/>
        </p:xfrm>
        <a:graphic>
          <a:graphicData uri="http://schemas.openxmlformats.org/drawingml/2006/table">
            <a:tbl>
              <a:tblPr firstRow="1" bandRow="1">
                <a:tableStyleId>{69012ECD-51FC-41F1-AA8D-1B2483CD663E}</a:tableStyleId>
              </a:tblPr>
              <a:tblGrid>
                <a:gridCol w="3058770">
                  <a:extLst>
                    <a:ext uri="{9D8B030D-6E8A-4147-A177-3AD203B41FA5}">
                      <a16:colId xmlns:a16="http://schemas.microsoft.com/office/drawing/2014/main" val="614103203"/>
                    </a:ext>
                  </a:extLst>
                </a:gridCol>
                <a:gridCol w="3189629">
                  <a:extLst>
                    <a:ext uri="{9D8B030D-6E8A-4147-A177-3AD203B41FA5}">
                      <a16:colId xmlns:a16="http://schemas.microsoft.com/office/drawing/2014/main" val="2407747947"/>
                    </a:ext>
                  </a:extLst>
                </a:gridCol>
                <a:gridCol w="3124200">
                  <a:extLst>
                    <a:ext uri="{9D8B030D-6E8A-4147-A177-3AD203B41FA5}">
                      <a16:colId xmlns:a16="http://schemas.microsoft.com/office/drawing/2014/main" val="1569085101"/>
                    </a:ext>
                  </a:extLst>
                </a:gridCol>
              </a:tblGrid>
              <a:tr h="67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cap="none" spc="50" dirty="0">
                          <a:ln w="9525" cmpd="sng">
                            <a:solidFill>
                              <a:schemeClr val="accent1"/>
                            </a:solidFill>
                            <a:prstDash val="solid"/>
                          </a:ln>
                          <a:solidFill>
                            <a:srgbClr val="70AD47">
                              <a:tint val="1000"/>
                            </a:srgbClr>
                          </a:solidFill>
                          <a:effectLst>
                            <a:glow rad="38100">
                              <a:schemeClr val="accent1">
                                <a:alpha val="40000"/>
                              </a:schemeClr>
                            </a:glow>
                          </a:effectLst>
                        </a:rPr>
                        <a:t>Recency</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800" b="1" kern="1200" cap="none" spc="50" dirty="0">
                          <a:ln w="9525" cmpd="sng">
                            <a:solidFill>
                              <a:schemeClr val="accent1"/>
                            </a:solidFill>
                            <a:prstDash val="solid"/>
                          </a:ln>
                          <a:solidFill>
                            <a:srgbClr val="70AD47">
                              <a:tint val="1000"/>
                            </a:srgbClr>
                          </a:solidFill>
                          <a:effectLst>
                            <a:glow rad="38100">
                              <a:schemeClr val="accent1">
                                <a:alpha val="40000"/>
                              </a:schemeClr>
                            </a:glow>
                          </a:effectLst>
                        </a:rPr>
                        <a:t>Frequency</a:t>
                      </a:r>
                      <a:endParaRPr lang="en-I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800" b="1" kern="1200" cap="none" spc="50" dirty="0">
                          <a:ln w="9525" cmpd="sng">
                            <a:solidFill>
                              <a:schemeClr val="accent1"/>
                            </a:solidFill>
                            <a:prstDash val="solid"/>
                          </a:ln>
                          <a:solidFill>
                            <a:srgbClr val="70AD47">
                              <a:tint val="1000"/>
                            </a:srgbClr>
                          </a:solidFill>
                          <a:effectLst>
                            <a:glow rad="38100">
                              <a:schemeClr val="accent1">
                                <a:alpha val="40000"/>
                              </a:schemeClr>
                            </a:glow>
                          </a:effectLst>
                        </a:rPr>
                        <a:t>Monetary</a:t>
                      </a:r>
                      <a:endParaRPr lang="en-I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0599839"/>
                  </a:ext>
                </a:extLst>
              </a:tr>
              <a:tr h="1052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u="none" strike="noStrike" kern="1200" cap="none" spc="-25" normalizeH="0" baseline="0" noProof="0" dirty="0">
                          <a:ln>
                            <a:noFill/>
                          </a:ln>
                          <a:solidFill>
                            <a:schemeClr val="bg2">
                              <a:lumMod val="10000"/>
                            </a:schemeClr>
                          </a:solidFill>
                          <a:effectLst/>
                          <a:uLnTx/>
                          <a:uFillTx/>
                        </a:rPr>
                        <a:t>How recently a customer made a purchase</a:t>
                      </a:r>
                      <a:endParaRPr lang="en-US" sz="2200" b="0" kern="1200" spc="-25" dirty="0">
                        <a:solidFill>
                          <a:schemeClr val="bg2">
                            <a:lumMod val="10000"/>
                          </a:schemeClr>
                        </a:solidFill>
                      </a:endParaRP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200" b="0" u="none" strike="noStrike" kern="1200" cap="none" spc="-25" normalizeH="0" baseline="0" noProof="0" dirty="0">
                          <a:ln>
                            <a:noFill/>
                          </a:ln>
                          <a:solidFill>
                            <a:schemeClr val="bg2">
                              <a:lumMod val="10000"/>
                            </a:schemeClr>
                          </a:solidFill>
                          <a:effectLst/>
                          <a:uLnTx/>
                          <a:uFillTx/>
                        </a:rPr>
                        <a:t>How often they purchase</a:t>
                      </a:r>
                      <a:endParaRPr lang="en-US" sz="2200" b="0" kern="1200" spc="-25" dirty="0">
                        <a:solidFill>
                          <a:schemeClr val="bg2">
                            <a:lumMod val="10000"/>
                          </a:schemeClr>
                        </a:solidFill>
                      </a:endParaRP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200" b="0" u="none" strike="noStrike" kern="1200" cap="none" spc="-25" normalizeH="0" baseline="0" noProof="0" dirty="0">
                          <a:ln>
                            <a:noFill/>
                          </a:ln>
                          <a:solidFill>
                            <a:schemeClr val="bg2">
                              <a:lumMod val="10000"/>
                            </a:schemeClr>
                          </a:solidFill>
                          <a:effectLst/>
                          <a:uLnTx/>
                          <a:uFillTx/>
                        </a:rPr>
                        <a:t>How much they spend</a:t>
                      </a:r>
                      <a:endParaRPr lang="en-US" sz="2200" b="0" kern="1200" spc="-25" dirty="0">
                        <a:solidFill>
                          <a:schemeClr val="bg2">
                            <a:lumMod val="10000"/>
                          </a:schemeClr>
                        </a:solidFill>
                      </a:endParaRP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9481631"/>
                  </a:ext>
                </a:extLst>
              </a:tr>
            </a:tbl>
          </a:graphicData>
        </a:graphic>
      </p:graphicFrame>
      <p:cxnSp>
        <p:nvCxnSpPr>
          <p:cNvPr id="7" name="Straight Connector 6">
            <a:extLst>
              <a:ext uri="{FF2B5EF4-FFF2-40B4-BE49-F238E27FC236}">
                <a16:creationId xmlns:a16="http://schemas.microsoft.com/office/drawing/2014/main" id="{BEC73E00-0F7E-861E-5448-B8C592DF0BDB}"/>
              </a:ext>
            </a:extLst>
          </p:cNvPr>
          <p:cNvCxnSpPr>
            <a:cxnSpLocks/>
          </p:cNvCxnSpPr>
          <p:nvPr/>
        </p:nvCxnSpPr>
        <p:spPr>
          <a:xfrm>
            <a:off x="5829300" y="3618682"/>
            <a:ext cx="0" cy="496118"/>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D0E22F4-70EB-D0CF-1B1A-2BCC3EF48AB0}"/>
              </a:ext>
            </a:extLst>
          </p:cNvPr>
          <p:cNvSpPr/>
          <p:nvPr/>
        </p:nvSpPr>
        <p:spPr>
          <a:xfrm>
            <a:off x="4506685" y="4049486"/>
            <a:ext cx="2645229" cy="718457"/>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2400" dirty="0"/>
              <a:t>RFM Metrics</a:t>
            </a:r>
            <a:endParaRPr lang="en-IN" sz="2400" dirty="0"/>
          </a:p>
        </p:txBody>
      </p:sp>
      <p:sp>
        <p:nvSpPr>
          <p:cNvPr id="11" name="TextBox 10">
            <a:extLst>
              <a:ext uri="{FF2B5EF4-FFF2-40B4-BE49-F238E27FC236}">
                <a16:creationId xmlns:a16="http://schemas.microsoft.com/office/drawing/2014/main" id="{7F7561F4-C354-96FA-39F8-AAB1CA03A76B}"/>
              </a:ext>
            </a:extLst>
          </p:cNvPr>
          <p:cNvSpPr txBox="1"/>
          <p:nvPr/>
        </p:nvSpPr>
        <p:spPr>
          <a:xfrm>
            <a:off x="2698976" y="5463682"/>
            <a:ext cx="6794045" cy="430887"/>
          </a:xfrm>
          <a:prstGeom prst="rect">
            <a:avLst/>
          </a:prstGeom>
          <a:noFill/>
        </p:spPr>
        <p:txBody>
          <a:bodyPr wrap="square">
            <a:spAutoFit/>
          </a:bodyPr>
          <a:lstStyle/>
          <a:p>
            <a:pPr algn="l">
              <a:spcBef>
                <a:spcPts val="300"/>
              </a:spcBef>
            </a:pPr>
            <a:r>
              <a:rPr lang="en-US" sz="2200" i="0" dirty="0">
                <a:ln w="0"/>
                <a:effectLst>
                  <a:outerShdw blurRad="38100" dist="19050" dir="2700000" algn="tl" rotWithShape="0">
                    <a:schemeClr val="dk1">
                      <a:alpha val="40000"/>
                    </a:schemeClr>
                  </a:outerShdw>
                </a:effectLst>
                <a:latin typeface="Inter"/>
              </a:rPr>
              <a:t>Purpose: </a:t>
            </a:r>
            <a:r>
              <a:rPr lang="en-US" sz="2200" b="0" i="0" dirty="0">
                <a:solidFill>
                  <a:schemeClr val="bg2">
                    <a:lumMod val="10000"/>
                  </a:schemeClr>
                </a:solidFill>
                <a:effectLst/>
                <a:latin typeface="Inter"/>
              </a:rPr>
              <a:t>Quantify customer behavior for segmentation</a:t>
            </a:r>
            <a:r>
              <a:rPr lang="en-US" sz="2200" b="0" i="0" dirty="0">
                <a:solidFill>
                  <a:srgbClr val="F8FAFF"/>
                </a:solidFill>
                <a:effectLst/>
                <a:latin typeface="Inter"/>
              </a:rPr>
              <a:t>.</a:t>
            </a:r>
          </a:p>
        </p:txBody>
      </p:sp>
    </p:spTree>
    <p:extLst>
      <p:ext uri="{BB962C8B-B14F-4D97-AF65-F5344CB8AC3E}">
        <p14:creationId xmlns:p14="http://schemas.microsoft.com/office/powerpoint/2010/main" val="1600270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C7CD54-2FE2-F333-4691-8EFEB9761B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66" y="838595"/>
            <a:ext cx="11407268" cy="4255920"/>
          </a:xfrm>
          <a:prstGeom prst="rect">
            <a:avLst/>
          </a:prstGeom>
        </p:spPr>
      </p:pic>
    </p:spTree>
    <p:extLst>
      <p:ext uri="{BB962C8B-B14F-4D97-AF65-F5344CB8AC3E}">
        <p14:creationId xmlns:p14="http://schemas.microsoft.com/office/powerpoint/2010/main" val="2813306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0ACA7-5ADC-C145-B977-EC26F7C77C8A}"/>
              </a:ext>
            </a:extLst>
          </p:cNvPr>
          <p:cNvSpPr>
            <a:spLocks noGrp="1"/>
          </p:cNvSpPr>
          <p:nvPr>
            <p:ph type="title"/>
          </p:nvPr>
        </p:nvSpPr>
        <p:spPr/>
        <p:txBody>
          <a:bodyPr>
            <a:normAutofit/>
          </a:bodyPr>
          <a:lstStyle/>
          <a:p>
            <a:r>
              <a:rPr lang="en-IN" sz="3600" dirty="0">
                <a:ea typeface="Calibri" panose="020F0502020204030204" pitchFamily="34" charset="0"/>
                <a:cs typeface="Calibri" panose="020F0502020204030204" pitchFamily="34" charset="0"/>
              </a:rPr>
              <a:t>05. RFM Analysis</a:t>
            </a:r>
            <a:endParaRPr lang="en-IN" dirty="0"/>
          </a:p>
        </p:txBody>
      </p:sp>
      <p:sp>
        <p:nvSpPr>
          <p:cNvPr id="3" name="Content Placeholder 2">
            <a:extLst>
              <a:ext uri="{FF2B5EF4-FFF2-40B4-BE49-F238E27FC236}">
                <a16:creationId xmlns:a16="http://schemas.microsoft.com/office/drawing/2014/main" id="{E4BC7FE7-CCED-6DE5-F49E-BF7B9897B1D5}"/>
              </a:ext>
            </a:extLst>
          </p:cNvPr>
          <p:cNvSpPr>
            <a:spLocks noGrp="1"/>
          </p:cNvSpPr>
          <p:nvPr>
            <p:ph idx="1"/>
          </p:nvPr>
        </p:nvSpPr>
        <p:spPr/>
        <p:txBody>
          <a:bodyPr>
            <a:normAutofit fontScale="92500" lnSpcReduction="10000"/>
          </a:bodyPr>
          <a:lstStyle/>
          <a:p>
            <a:pPr marL="0" indent="0">
              <a:lnSpc>
                <a:spcPct val="100000"/>
              </a:lnSpc>
              <a:buNone/>
            </a:pPr>
            <a:r>
              <a:rPr lang="en-US" sz="2400" b="1" u="sng" dirty="0"/>
              <a:t>Customer Segments:</a:t>
            </a:r>
          </a:p>
          <a:p>
            <a:pPr>
              <a:lnSpc>
                <a:spcPct val="150000"/>
              </a:lnSpc>
            </a:pPr>
            <a:r>
              <a:rPr lang="en-US" sz="2400" b="1" dirty="0"/>
              <a:t>Loyal Customers (444): </a:t>
            </a:r>
            <a:r>
              <a:rPr lang="en-US" sz="2400" dirty="0"/>
              <a:t>High engagement and spending.</a:t>
            </a:r>
          </a:p>
          <a:p>
            <a:pPr>
              <a:lnSpc>
                <a:spcPct val="150000"/>
              </a:lnSpc>
            </a:pPr>
            <a:r>
              <a:rPr lang="en-US" sz="2400" b="1" dirty="0"/>
              <a:t>Potentially Loyal Customers: </a:t>
            </a:r>
            <a:r>
              <a:rPr lang="en-US" sz="2400" dirty="0"/>
              <a:t>Moderate RFM scores.</a:t>
            </a:r>
          </a:p>
          <a:p>
            <a:pPr>
              <a:lnSpc>
                <a:spcPct val="150000"/>
              </a:lnSpc>
            </a:pPr>
            <a:r>
              <a:rPr lang="en-US" sz="2400" b="1" dirty="0"/>
              <a:t>At-Risk Customers: </a:t>
            </a:r>
            <a:r>
              <a:rPr lang="en-US" sz="2400" dirty="0"/>
              <a:t>Likely to churn.</a:t>
            </a:r>
          </a:p>
          <a:p>
            <a:pPr>
              <a:lnSpc>
                <a:spcPct val="150000"/>
              </a:lnSpc>
            </a:pPr>
            <a:r>
              <a:rPr lang="en-US" sz="2400" b="1" dirty="0"/>
              <a:t>Can’t Lose Customers: </a:t>
            </a:r>
            <a:r>
              <a:rPr lang="en-US" sz="2400" dirty="0"/>
              <a:t>Low RFM scores, high risk of churn.</a:t>
            </a:r>
          </a:p>
          <a:p>
            <a:endParaRPr lang="en-IN" dirty="0"/>
          </a:p>
        </p:txBody>
      </p:sp>
      <p:sp>
        <p:nvSpPr>
          <p:cNvPr id="4" name="TextBox 3">
            <a:extLst>
              <a:ext uri="{FF2B5EF4-FFF2-40B4-BE49-F238E27FC236}">
                <a16:creationId xmlns:a16="http://schemas.microsoft.com/office/drawing/2014/main" id="{45970164-CC83-6454-DA97-6BBD821E5083}"/>
              </a:ext>
            </a:extLst>
          </p:cNvPr>
          <p:cNvSpPr txBox="1"/>
          <p:nvPr/>
        </p:nvSpPr>
        <p:spPr>
          <a:xfrm>
            <a:off x="6906986" y="767443"/>
            <a:ext cx="4606133" cy="646331"/>
          </a:xfrm>
          <a:prstGeom prst="rect">
            <a:avLst/>
          </a:prstGeom>
          <a:noFill/>
        </p:spPr>
        <p:txBody>
          <a:bodyPr wrap="square" rtlCol="0">
            <a:spAutoFit/>
          </a:bodyPr>
          <a:lstStyle/>
          <a:p>
            <a:r>
              <a:rPr lang="en-US" sz="3600" b="1" dirty="0">
                <a:solidFill>
                  <a:schemeClr val="bg1"/>
                </a:solidFill>
              </a:rPr>
              <a:t>Actionable Insights:</a:t>
            </a:r>
            <a:endParaRPr lang="en-IN" b="1" dirty="0"/>
          </a:p>
        </p:txBody>
      </p:sp>
      <p:sp>
        <p:nvSpPr>
          <p:cNvPr id="5" name="TextBox 4">
            <a:extLst>
              <a:ext uri="{FF2B5EF4-FFF2-40B4-BE49-F238E27FC236}">
                <a16:creationId xmlns:a16="http://schemas.microsoft.com/office/drawing/2014/main" id="{B3CC3D64-F302-333E-223F-DA796C48AEED}"/>
              </a:ext>
            </a:extLst>
          </p:cNvPr>
          <p:cNvSpPr txBox="1"/>
          <p:nvPr/>
        </p:nvSpPr>
        <p:spPr>
          <a:xfrm>
            <a:off x="7218705" y="1659836"/>
            <a:ext cx="4294414" cy="1504707"/>
          </a:xfrm>
          <a:prstGeom prst="rect">
            <a:avLst/>
          </a:prstGeom>
          <a:noFill/>
        </p:spPr>
        <p:txBody>
          <a:bodyPr wrap="square" rtlCol="0">
            <a:spAutoFit/>
          </a:bodyPr>
          <a:lstStyle/>
          <a:p>
            <a:pPr marL="342900" indent="-342900">
              <a:lnSpc>
                <a:spcPct val="200000"/>
              </a:lnSpc>
              <a:spcBef>
                <a:spcPts val="300"/>
              </a:spcBef>
              <a:buFont typeface="Arial" panose="020B0604020202020204" pitchFamily="34" charset="0"/>
              <a:buChar char="•"/>
            </a:pP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Retain </a:t>
            </a:r>
            <a:r>
              <a:rPr lang="en-US" sz="2400" b="1" dirty="0">
                <a:solidFill>
                  <a:srgbClr val="FF7C80"/>
                </a:solidFill>
                <a:latin typeface="Calibri" panose="020F0502020204030204" pitchFamily="34" charset="0"/>
                <a:ea typeface="Calibri" panose="020F0502020204030204" pitchFamily="34" charset="0"/>
                <a:cs typeface="Calibri" panose="020F0502020204030204" pitchFamily="34" charset="0"/>
              </a:rPr>
              <a:t>high-value</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customers.</a:t>
            </a:r>
          </a:p>
          <a:p>
            <a:pPr marL="342900" indent="-342900">
              <a:lnSpc>
                <a:spcPct val="200000"/>
              </a:lnSpc>
              <a:spcBef>
                <a:spcPts val="300"/>
              </a:spcBef>
              <a:buFont typeface="Arial" panose="020B0604020202020204" pitchFamily="34" charset="0"/>
              <a:buChar char="•"/>
            </a:pP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Re-engage </a:t>
            </a:r>
            <a:r>
              <a:rPr lang="en-US" sz="2400" b="1" dirty="0">
                <a:solidFill>
                  <a:srgbClr val="FF7C80"/>
                </a:solidFill>
                <a:latin typeface="Calibri" panose="020F0502020204030204" pitchFamily="34" charset="0"/>
                <a:ea typeface="Calibri" panose="020F0502020204030204" pitchFamily="34" charset="0"/>
                <a:cs typeface="Calibri" panose="020F0502020204030204" pitchFamily="34" charset="0"/>
              </a:rPr>
              <a:t>at-risk</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customers.</a:t>
            </a:r>
          </a:p>
        </p:txBody>
      </p:sp>
      <p:pic>
        <p:nvPicPr>
          <p:cNvPr id="7" name="Picture 6">
            <a:extLst>
              <a:ext uri="{FF2B5EF4-FFF2-40B4-BE49-F238E27FC236}">
                <a16:creationId xmlns:a16="http://schemas.microsoft.com/office/drawing/2014/main" id="{F3075278-0DE6-400E-C6BA-63A2EA14F3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5882" y="3429000"/>
            <a:ext cx="5523088" cy="2541599"/>
          </a:xfrm>
          <a:prstGeom prst="rect">
            <a:avLst/>
          </a:prstGeom>
        </p:spPr>
      </p:pic>
    </p:spTree>
    <p:extLst>
      <p:ext uri="{BB962C8B-B14F-4D97-AF65-F5344CB8AC3E}">
        <p14:creationId xmlns:p14="http://schemas.microsoft.com/office/powerpoint/2010/main" val="2949426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E664E0-DEDA-9A7D-BE6C-20E5D4B14A8B}"/>
              </a:ext>
            </a:extLst>
          </p:cNvPr>
          <p:cNvSpPr/>
          <p:nvPr/>
        </p:nvSpPr>
        <p:spPr>
          <a:xfrm>
            <a:off x="5812971" y="0"/>
            <a:ext cx="6379029" cy="602524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75675DE1-3E46-0406-988A-EC6FBF9BC337}"/>
              </a:ext>
            </a:extLst>
          </p:cNvPr>
          <p:cNvSpPr txBox="1"/>
          <p:nvPr/>
        </p:nvSpPr>
        <p:spPr>
          <a:xfrm>
            <a:off x="702128" y="440871"/>
            <a:ext cx="4751614" cy="861774"/>
          </a:xfrm>
          <a:prstGeom prst="rect">
            <a:avLst/>
          </a:prstGeom>
          <a:noFill/>
        </p:spPr>
        <p:txBody>
          <a:bodyPr wrap="square" rtlCol="0">
            <a:spAutoFit/>
          </a:bodyPr>
          <a:lstStyle/>
          <a:p>
            <a:r>
              <a:rPr lang="en-IN" sz="3200" b="1" dirty="0">
                <a:solidFill>
                  <a:srgbClr val="F8FAFF"/>
                </a:solidFill>
                <a:latin typeface="Inter"/>
              </a:rPr>
              <a:t>Clusters Identified:</a:t>
            </a:r>
            <a:endParaRPr lang="en-IN" sz="3200" dirty="0">
              <a:solidFill>
                <a:schemeClr val="bg1"/>
              </a:solidFill>
            </a:endParaRPr>
          </a:p>
          <a:p>
            <a:endParaRPr lang="en-IN" dirty="0"/>
          </a:p>
        </p:txBody>
      </p:sp>
      <p:sp>
        <p:nvSpPr>
          <p:cNvPr id="4" name="TextBox 3">
            <a:extLst>
              <a:ext uri="{FF2B5EF4-FFF2-40B4-BE49-F238E27FC236}">
                <a16:creationId xmlns:a16="http://schemas.microsoft.com/office/drawing/2014/main" id="{47D56982-06AC-9065-2FC5-B458D185DB35}"/>
              </a:ext>
            </a:extLst>
          </p:cNvPr>
          <p:cNvSpPr txBox="1"/>
          <p:nvPr/>
        </p:nvSpPr>
        <p:spPr>
          <a:xfrm>
            <a:off x="702128" y="1302645"/>
            <a:ext cx="4620986" cy="4362733"/>
          </a:xfrm>
          <a:prstGeom prst="rect">
            <a:avLst/>
          </a:prstGeom>
          <a:noFill/>
        </p:spPr>
        <p:txBody>
          <a:bodyPr wrap="square" rtlCol="0">
            <a:spAutoFit/>
          </a:bodyPr>
          <a:lstStyle/>
          <a:p>
            <a:pPr marL="342900" indent="-342900" algn="just">
              <a:lnSpc>
                <a:spcPct val="150000"/>
              </a:lnSpc>
              <a:spcBef>
                <a:spcPts val="300"/>
              </a:spcBef>
              <a:buFont typeface="Arial" panose="020B0604020202020204" pitchFamily="34" charset="0"/>
              <a:buChar char="•"/>
            </a:pPr>
            <a:r>
              <a:rPr lang="en-US" sz="2100" b="1" dirty="0">
                <a:solidFill>
                  <a:schemeClr val="bg1"/>
                </a:solidFill>
                <a:latin typeface="Calibri" panose="020F0502020204030204" pitchFamily="34" charset="0"/>
                <a:ea typeface="Calibri" panose="020F0502020204030204" pitchFamily="34" charset="0"/>
                <a:cs typeface="Calibri" panose="020F0502020204030204" pitchFamily="34" charset="0"/>
              </a:rPr>
              <a:t>Cluster 1: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High-value loyal customers and at-risk high spenders.</a:t>
            </a:r>
          </a:p>
          <a:p>
            <a:pPr marL="342900" indent="-342900" algn="just">
              <a:lnSpc>
                <a:spcPct val="150000"/>
              </a:lnSpc>
              <a:spcBef>
                <a:spcPts val="300"/>
              </a:spcBef>
              <a:buFont typeface="Arial" panose="020B0604020202020204" pitchFamily="34" charset="0"/>
              <a:buChar char="•"/>
            </a:pPr>
            <a:r>
              <a:rPr lang="en-US" sz="2100" b="1" dirty="0">
                <a:solidFill>
                  <a:schemeClr val="bg1"/>
                </a:solidFill>
                <a:latin typeface="Calibri" panose="020F0502020204030204" pitchFamily="34" charset="0"/>
                <a:ea typeface="Calibri" panose="020F0502020204030204" pitchFamily="34" charset="0"/>
                <a:cs typeface="Calibri" panose="020F0502020204030204" pitchFamily="34" charset="0"/>
              </a:rPr>
              <a:t>Cluster 2: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Moderate to high spenders with recent inactivity.</a:t>
            </a:r>
          </a:p>
          <a:p>
            <a:pPr marL="342900" indent="-342900" algn="just">
              <a:lnSpc>
                <a:spcPct val="150000"/>
              </a:lnSpc>
              <a:spcBef>
                <a:spcPts val="300"/>
              </a:spcBef>
              <a:buFont typeface="Arial" panose="020B0604020202020204" pitchFamily="34" charset="0"/>
              <a:buChar char="•"/>
            </a:pPr>
            <a:r>
              <a:rPr lang="en-US" sz="2100" b="1" dirty="0">
                <a:solidFill>
                  <a:schemeClr val="bg1"/>
                </a:solidFill>
                <a:latin typeface="Calibri" panose="020F0502020204030204" pitchFamily="34" charset="0"/>
                <a:ea typeface="Calibri" panose="020F0502020204030204" pitchFamily="34" charset="0"/>
                <a:cs typeface="Calibri" panose="020F0502020204030204" pitchFamily="34" charset="0"/>
              </a:rPr>
              <a:t>Cluster 3: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Core high-value, deeply loyal customers.</a:t>
            </a:r>
          </a:p>
          <a:p>
            <a:pPr marL="342900" indent="-342900" algn="just">
              <a:lnSpc>
                <a:spcPct val="150000"/>
              </a:lnSpc>
              <a:spcBef>
                <a:spcPts val="300"/>
              </a:spcBef>
              <a:buFont typeface="Arial" panose="020B0604020202020204" pitchFamily="34" charset="0"/>
              <a:buChar char="•"/>
            </a:pPr>
            <a:r>
              <a:rPr lang="en-US" sz="2100" b="1" dirty="0">
                <a:solidFill>
                  <a:schemeClr val="bg1"/>
                </a:solidFill>
                <a:latin typeface="Calibri" panose="020F0502020204030204" pitchFamily="34" charset="0"/>
                <a:ea typeface="Calibri" panose="020F0502020204030204" pitchFamily="34" charset="0"/>
                <a:cs typeface="Calibri" panose="020F0502020204030204" pitchFamily="34" charset="0"/>
              </a:rPr>
              <a:t>Cluster 4: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High-frequency customers with declining engagement.</a:t>
            </a:r>
          </a:p>
          <a:p>
            <a:endParaRPr lang="en-IN" dirty="0"/>
          </a:p>
        </p:txBody>
      </p:sp>
      <p:sp>
        <p:nvSpPr>
          <p:cNvPr id="6" name="TextBox 5">
            <a:extLst>
              <a:ext uri="{FF2B5EF4-FFF2-40B4-BE49-F238E27FC236}">
                <a16:creationId xmlns:a16="http://schemas.microsoft.com/office/drawing/2014/main" id="{F69A2BFB-F4BF-558A-9CB9-21BC69A05F57}"/>
              </a:ext>
            </a:extLst>
          </p:cNvPr>
          <p:cNvSpPr txBox="1"/>
          <p:nvPr/>
        </p:nvSpPr>
        <p:spPr>
          <a:xfrm>
            <a:off x="6721928" y="440871"/>
            <a:ext cx="4904015" cy="861774"/>
          </a:xfrm>
          <a:prstGeom prst="rect">
            <a:avLst/>
          </a:prstGeom>
          <a:noFill/>
        </p:spPr>
        <p:txBody>
          <a:bodyPr wrap="squar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06. Clustering Analysis</a:t>
            </a:r>
          </a:p>
          <a:p>
            <a:endParaRPr lang="en-IN" dirty="0"/>
          </a:p>
        </p:txBody>
      </p:sp>
      <p:sp>
        <p:nvSpPr>
          <p:cNvPr id="7" name="TextBox 6">
            <a:extLst>
              <a:ext uri="{FF2B5EF4-FFF2-40B4-BE49-F238E27FC236}">
                <a16:creationId xmlns:a16="http://schemas.microsoft.com/office/drawing/2014/main" id="{E008C99A-392E-D2DC-5D46-FD6DBB841E33}"/>
              </a:ext>
            </a:extLst>
          </p:cNvPr>
          <p:cNvSpPr txBox="1"/>
          <p:nvPr/>
        </p:nvSpPr>
        <p:spPr>
          <a:xfrm>
            <a:off x="6248398" y="1479617"/>
            <a:ext cx="5687788" cy="4393510"/>
          </a:xfrm>
          <a:prstGeom prst="rect">
            <a:avLst/>
          </a:prstGeom>
          <a:noFill/>
        </p:spPr>
        <p:txBody>
          <a:bodyPr wrap="square" rtlCol="0">
            <a:spAutoFit/>
          </a:bodyPr>
          <a:lstStyle/>
          <a:p>
            <a:pPr>
              <a:lnSpc>
                <a:spcPct val="150000"/>
              </a:lnSpc>
              <a:spcAft>
                <a:spcPts val="300"/>
              </a:spcAft>
            </a:pPr>
            <a:r>
              <a:rPr lang="en-US" sz="2100" b="1" u="sng" dirty="0">
                <a:latin typeface="Inter"/>
              </a:rPr>
              <a:t>Techniques Used:</a:t>
            </a:r>
          </a:p>
          <a:p>
            <a:pPr marL="800100" lvl="1" indent="-342900">
              <a:lnSpc>
                <a:spcPct val="150000"/>
              </a:lnSpc>
              <a:spcAft>
                <a:spcPts val="300"/>
              </a:spcAft>
              <a:buFont typeface="Arial" panose="020B0604020202020204" pitchFamily="34" charset="0"/>
              <a:buChar char="•"/>
            </a:pPr>
            <a:r>
              <a:rPr lang="en-US" sz="2100" dirty="0">
                <a:latin typeface="Calibri" panose="020F0502020204030204" pitchFamily="34" charset="0"/>
                <a:ea typeface="Calibri" panose="020F0502020204030204" pitchFamily="34" charset="0"/>
                <a:cs typeface="Calibri" panose="020F0502020204030204" pitchFamily="34" charset="0"/>
              </a:rPr>
              <a:t>K-means</a:t>
            </a:r>
            <a:r>
              <a:rPr lang="en-US" sz="2100" dirty="0">
                <a:latin typeface="Inter"/>
              </a:rPr>
              <a:t>, </a:t>
            </a:r>
          </a:p>
          <a:p>
            <a:pPr marL="800100" lvl="1" indent="-342900">
              <a:lnSpc>
                <a:spcPct val="150000"/>
              </a:lnSpc>
              <a:spcAft>
                <a:spcPts val="300"/>
              </a:spcAft>
              <a:buFont typeface="Arial" panose="020B0604020202020204" pitchFamily="34" charset="0"/>
              <a:buChar char="•"/>
            </a:pPr>
            <a:r>
              <a:rPr lang="en-US" sz="2100" dirty="0">
                <a:latin typeface="Inter"/>
              </a:rPr>
              <a:t>DBSCAN, </a:t>
            </a:r>
          </a:p>
          <a:p>
            <a:pPr marL="800100" lvl="1" indent="-342900">
              <a:lnSpc>
                <a:spcPct val="150000"/>
              </a:lnSpc>
              <a:spcAft>
                <a:spcPts val="300"/>
              </a:spcAft>
              <a:buFont typeface="Arial" panose="020B0604020202020204" pitchFamily="34" charset="0"/>
              <a:buChar char="•"/>
            </a:pPr>
            <a:r>
              <a:rPr lang="en-US" sz="2100" dirty="0">
                <a:latin typeface="Inter"/>
              </a:rPr>
              <a:t>Hierarchical Clustering.</a:t>
            </a:r>
          </a:p>
          <a:p>
            <a:endParaRPr lang="en-IN" sz="2100" dirty="0"/>
          </a:p>
          <a:p>
            <a:pPr>
              <a:lnSpc>
                <a:spcPct val="150000"/>
              </a:lnSpc>
              <a:spcBef>
                <a:spcPts val="300"/>
              </a:spcBef>
              <a:spcAft>
                <a:spcPts val="300"/>
              </a:spcAft>
            </a:pPr>
            <a:r>
              <a:rPr lang="en-US" sz="2100" b="1" u="sng" dirty="0">
                <a:latin typeface="Calibri" panose="020F0502020204030204" pitchFamily="34" charset="0"/>
                <a:ea typeface="Calibri" panose="020F0502020204030204" pitchFamily="34" charset="0"/>
                <a:cs typeface="Calibri" panose="020F0502020204030204" pitchFamily="34" charset="0"/>
              </a:rPr>
              <a:t>Recommendations:</a:t>
            </a:r>
            <a:endParaRPr lang="en-US" sz="2100" u="sng" dirty="0">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spcBef>
                <a:spcPts val="300"/>
              </a:spcBef>
              <a:buFont typeface="Arial" panose="020B0604020202020204" pitchFamily="34" charset="0"/>
              <a:buChar char="•"/>
            </a:pPr>
            <a:r>
              <a:rPr lang="en-US" sz="2100" dirty="0">
                <a:latin typeface="Calibri" panose="020F0502020204030204" pitchFamily="34" charset="0"/>
                <a:ea typeface="Calibri" panose="020F0502020204030204" pitchFamily="34" charset="0"/>
                <a:cs typeface="Calibri" panose="020F0502020204030204" pitchFamily="34" charset="0"/>
              </a:rPr>
              <a:t>Loyalty programs for high-value clusters.</a:t>
            </a:r>
          </a:p>
          <a:p>
            <a:pPr marL="742950" lvl="1" indent="-285750">
              <a:lnSpc>
                <a:spcPct val="150000"/>
              </a:lnSpc>
              <a:spcBef>
                <a:spcPts val="300"/>
              </a:spcBef>
              <a:buFont typeface="Arial" panose="020B0604020202020204" pitchFamily="34" charset="0"/>
              <a:buChar char="•"/>
            </a:pPr>
            <a:r>
              <a:rPr lang="en-US" sz="2100" dirty="0">
                <a:latin typeface="Calibri" panose="020F0502020204030204" pitchFamily="34" charset="0"/>
                <a:ea typeface="Calibri" panose="020F0502020204030204" pitchFamily="34" charset="0"/>
                <a:cs typeface="Calibri" panose="020F0502020204030204" pitchFamily="34" charset="0"/>
              </a:rPr>
              <a:t>Reactivation campaigns for at-risk clusters.</a:t>
            </a:r>
          </a:p>
          <a:p>
            <a:endParaRPr lang="en-IN" dirty="0"/>
          </a:p>
        </p:txBody>
      </p:sp>
    </p:spTree>
    <p:extLst>
      <p:ext uri="{BB962C8B-B14F-4D97-AF65-F5344CB8AC3E}">
        <p14:creationId xmlns:p14="http://schemas.microsoft.com/office/powerpoint/2010/main" val="93874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15" name="Image 1" descr="preencoded.png">
            <a:extLst>
              <a:ext uri="{FF2B5EF4-FFF2-40B4-BE49-F238E27FC236}">
                <a16:creationId xmlns:a16="http://schemas.microsoft.com/office/drawing/2014/main" id="{4B7D136F-AC5C-AE98-FB3E-AA6D0816B8BE}"/>
              </a:ext>
            </a:extLst>
          </p:cNvPr>
          <p:cNvPicPr>
            <a:picLocks noChangeAspect="1"/>
          </p:cNvPicPr>
          <p:nvPr/>
        </p:nvPicPr>
        <p:blipFill>
          <a:blip r:embed="rId2"/>
          <a:stretch>
            <a:fillRect/>
          </a:stretch>
        </p:blipFill>
        <p:spPr>
          <a:xfrm>
            <a:off x="2039046" y="2828627"/>
            <a:ext cx="2704604" cy="1040507"/>
          </a:xfrm>
          <a:prstGeom prst="rect">
            <a:avLst/>
          </a:prstGeom>
        </p:spPr>
      </p:pic>
      <p:pic>
        <p:nvPicPr>
          <p:cNvPr id="16" name="Image 2" descr="preencoded.png">
            <a:extLst>
              <a:ext uri="{FF2B5EF4-FFF2-40B4-BE49-F238E27FC236}">
                <a16:creationId xmlns:a16="http://schemas.microsoft.com/office/drawing/2014/main" id="{47FEE1B2-498F-6B21-7CB9-45C7AEF885BE}"/>
              </a:ext>
            </a:extLst>
          </p:cNvPr>
          <p:cNvPicPr>
            <a:picLocks noChangeAspect="1"/>
          </p:cNvPicPr>
          <p:nvPr/>
        </p:nvPicPr>
        <p:blipFill>
          <a:blip r:embed="rId3"/>
          <a:stretch>
            <a:fillRect/>
          </a:stretch>
        </p:blipFill>
        <p:spPr>
          <a:xfrm>
            <a:off x="1362870" y="3914279"/>
            <a:ext cx="4056956" cy="1040507"/>
          </a:xfrm>
          <a:prstGeom prst="rect">
            <a:avLst/>
          </a:prstGeom>
        </p:spPr>
      </p:pic>
      <p:pic>
        <p:nvPicPr>
          <p:cNvPr id="17" name="Image 3" descr="preencoded.png">
            <a:extLst>
              <a:ext uri="{FF2B5EF4-FFF2-40B4-BE49-F238E27FC236}">
                <a16:creationId xmlns:a16="http://schemas.microsoft.com/office/drawing/2014/main" id="{45DE269C-08B1-5C89-C6B1-48C76D541ECA}"/>
              </a:ext>
            </a:extLst>
          </p:cNvPr>
          <p:cNvPicPr>
            <a:picLocks noChangeAspect="1"/>
          </p:cNvPicPr>
          <p:nvPr/>
        </p:nvPicPr>
        <p:blipFill>
          <a:blip r:embed="rId4"/>
          <a:stretch>
            <a:fillRect/>
          </a:stretch>
        </p:blipFill>
        <p:spPr>
          <a:xfrm>
            <a:off x="686693" y="4999931"/>
            <a:ext cx="5409307" cy="1040507"/>
          </a:xfrm>
          <a:prstGeom prst="rect">
            <a:avLst/>
          </a:prstGeom>
        </p:spPr>
      </p:pic>
      <p:pic>
        <p:nvPicPr>
          <p:cNvPr id="14" name="Image 0" descr="preencoded.png">
            <a:extLst>
              <a:ext uri="{FF2B5EF4-FFF2-40B4-BE49-F238E27FC236}">
                <a16:creationId xmlns:a16="http://schemas.microsoft.com/office/drawing/2014/main" id="{639BF395-6D14-4633-917E-47768AA44F78}"/>
              </a:ext>
            </a:extLst>
          </p:cNvPr>
          <p:cNvPicPr>
            <a:picLocks noChangeAspect="1"/>
          </p:cNvPicPr>
          <p:nvPr/>
        </p:nvPicPr>
        <p:blipFill>
          <a:blip r:embed="rId5"/>
          <a:stretch>
            <a:fillRect/>
          </a:stretch>
        </p:blipFill>
        <p:spPr>
          <a:xfrm>
            <a:off x="2715121" y="1742975"/>
            <a:ext cx="1352253" cy="1040507"/>
          </a:xfrm>
          <a:prstGeom prst="rect">
            <a:avLst/>
          </a:prstGeom>
        </p:spPr>
      </p:pic>
      <p:sp>
        <p:nvSpPr>
          <p:cNvPr id="2" name="Title 1">
            <a:extLst>
              <a:ext uri="{FF2B5EF4-FFF2-40B4-BE49-F238E27FC236}">
                <a16:creationId xmlns:a16="http://schemas.microsoft.com/office/drawing/2014/main" id="{D6D16178-5DA3-AE12-B1E7-A9DE75A6D8E3}"/>
              </a:ext>
            </a:extLst>
          </p:cNvPr>
          <p:cNvSpPr>
            <a:spLocks noGrp="1"/>
          </p:cNvSpPr>
          <p:nvPr>
            <p:ph type="title"/>
          </p:nvPr>
        </p:nvSpPr>
        <p:spPr/>
        <p:txBody>
          <a:bodyPr>
            <a:normAutofit/>
          </a:bodyPr>
          <a:lstStyle/>
          <a:p>
            <a:r>
              <a:rPr lang="en-US" sz="4000" dirty="0"/>
              <a:t>Clustering Analysis</a:t>
            </a:r>
            <a:endParaRPr lang="en-IN" sz="4000" dirty="0"/>
          </a:p>
        </p:txBody>
      </p:sp>
      <p:sp>
        <p:nvSpPr>
          <p:cNvPr id="3" name="Text 1">
            <a:extLst>
              <a:ext uri="{FF2B5EF4-FFF2-40B4-BE49-F238E27FC236}">
                <a16:creationId xmlns:a16="http://schemas.microsoft.com/office/drawing/2014/main" id="{2B6743B5-D0E1-17D0-F545-17EFAB52A31F}"/>
              </a:ext>
            </a:extLst>
          </p:cNvPr>
          <p:cNvSpPr/>
          <p:nvPr/>
        </p:nvSpPr>
        <p:spPr>
          <a:xfrm flipH="1">
            <a:off x="3295869" y="2211587"/>
            <a:ext cx="45719" cy="232172"/>
          </a:xfrm>
          <a:prstGeom prst="rect">
            <a:avLst/>
          </a:prstGeom>
          <a:noFill/>
          <a:ln/>
        </p:spPr>
        <p:txBody>
          <a:bodyPr wrap="none" lIns="0" tIns="0" rIns="0" bIns="0" rtlCol="0" anchor="t"/>
          <a:lstStyle/>
          <a:p>
            <a:pPr algn="ctr">
              <a:lnSpc>
                <a:spcPts val="2833"/>
              </a:lnSpc>
            </a:pPr>
            <a:r>
              <a:rPr lang="en-US" sz="1750" dirty="0">
                <a:solidFill>
                  <a:schemeClr val="bg1"/>
                </a:solidFill>
                <a:latin typeface="Merriweather" pitchFamily="34" charset="0"/>
              </a:rPr>
              <a:t>4</a:t>
            </a:r>
            <a:endParaRPr lang="en-US" sz="1750" dirty="0">
              <a:solidFill>
                <a:schemeClr val="bg1"/>
              </a:solidFill>
            </a:endParaRPr>
          </a:p>
        </p:txBody>
      </p:sp>
      <p:sp>
        <p:nvSpPr>
          <p:cNvPr id="4" name="Text 2">
            <a:extLst>
              <a:ext uri="{FF2B5EF4-FFF2-40B4-BE49-F238E27FC236}">
                <a16:creationId xmlns:a16="http://schemas.microsoft.com/office/drawing/2014/main" id="{D1BBAAA7-6F59-C257-A825-EA02F69806F9}"/>
              </a:ext>
            </a:extLst>
          </p:cNvPr>
          <p:cNvSpPr/>
          <p:nvPr/>
        </p:nvSpPr>
        <p:spPr>
          <a:xfrm>
            <a:off x="4248052" y="1923555"/>
            <a:ext cx="2257326" cy="282079"/>
          </a:xfrm>
          <a:prstGeom prst="rect">
            <a:avLst/>
          </a:prstGeom>
          <a:noFill/>
          <a:ln/>
        </p:spPr>
        <p:txBody>
          <a:bodyPr wrap="none" lIns="0" tIns="0" rIns="0" bIns="0" rtlCol="0" anchor="t"/>
          <a:lstStyle/>
          <a:p>
            <a:pPr>
              <a:lnSpc>
                <a:spcPts val="2208"/>
              </a:lnSpc>
            </a:pPr>
            <a:r>
              <a:rPr lang="en-US" sz="1750" dirty="0">
                <a:latin typeface="Merriweather" pitchFamily="34" charset="0"/>
                <a:ea typeface="Merriweather" pitchFamily="34" charset="-122"/>
                <a:cs typeface="Merriweather" pitchFamily="34" charset="-120"/>
              </a:rPr>
              <a:t>High-Frequency</a:t>
            </a:r>
            <a:endParaRPr lang="en-US" sz="1750" dirty="0"/>
          </a:p>
        </p:txBody>
      </p:sp>
      <p:sp>
        <p:nvSpPr>
          <p:cNvPr id="5" name="Text 3">
            <a:extLst>
              <a:ext uri="{FF2B5EF4-FFF2-40B4-BE49-F238E27FC236}">
                <a16:creationId xmlns:a16="http://schemas.microsoft.com/office/drawing/2014/main" id="{F7A7E5BF-77F4-6558-8223-EE0AA5095CA0}"/>
              </a:ext>
            </a:extLst>
          </p:cNvPr>
          <p:cNvSpPr/>
          <p:nvPr/>
        </p:nvSpPr>
        <p:spPr>
          <a:xfrm>
            <a:off x="4248052" y="2313980"/>
            <a:ext cx="3860503" cy="288925"/>
          </a:xfrm>
          <a:prstGeom prst="rect">
            <a:avLst/>
          </a:prstGeom>
          <a:noFill/>
          <a:ln/>
        </p:spPr>
        <p:txBody>
          <a:bodyPr wrap="none" lIns="0" tIns="0" rIns="0" bIns="0" rtlCol="0" anchor="t"/>
          <a:lstStyle/>
          <a:p>
            <a:pPr>
              <a:lnSpc>
                <a:spcPts val="2250"/>
              </a:lnSpc>
            </a:pPr>
            <a:r>
              <a:rPr lang="en-US" sz="1417" dirty="0">
                <a:latin typeface="Merriweather" pitchFamily="34" charset="0"/>
                <a:ea typeface="Merriweather" pitchFamily="34" charset="-122"/>
                <a:cs typeface="Merriweather" pitchFamily="34" charset="-120"/>
              </a:rPr>
              <a:t>High-frequency customers with declining engagement.</a:t>
            </a:r>
            <a:endParaRPr lang="en-US" sz="1417" dirty="0"/>
          </a:p>
        </p:txBody>
      </p:sp>
      <p:sp>
        <p:nvSpPr>
          <p:cNvPr id="6" name="Text 5">
            <a:extLst>
              <a:ext uri="{FF2B5EF4-FFF2-40B4-BE49-F238E27FC236}">
                <a16:creationId xmlns:a16="http://schemas.microsoft.com/office/drawing/2014/main" id="{91F1FF79-4E76-4486-8810-A81E62203516}"/>
              </a:ext>
            </a:extLst>
          </p:cNvPr>
          <p:cNvSpPr/>
          <p:nvPr/>
        </p:nvSpPr>
        <p:spPr>
          <a:xfrm>
            <a:off x="3137488" y="3168253"/>
            <a:ext cx="366428" cy="406302"/>
          </a:xfrm>
          <a:prstGeom prst="rect">
            <a:avLst/>
          </a:prstGeom>
          <a:noFill/>
          <a:ln/>
        </p:spPr>
        <p:txBody>
          <a:bodyPr wrap="none" lIns="0" tIns="0" rIns="0" bIns="0" rtlCol="0" anchor="t"/>
          <a:lstStyle/>
          <a:p>
            <a:pPr algn="ctr">
              <a:lnSpc>
                <a:spcPts val="2833"/>
              </a:lnSpc>
            </a:pPr>
            <a:r>
              <a:rPr lang="en-US" sz="1750" dirty="0">
                <a:solidFill>
                  <a:schemeClr val="bg1"/>
                </a:solidFill>
                <a:latin typeface="Merriweather" pitchFamily="34" charset="0"/>
              </a:rPr>
              <a:t>3</a:t>
            </a:r>
            <a:endParaRPr lang="en-US" sz="1750" dirty="0">
              <a:solidFill>
                <a:schemeClr val="bg1"/>
              </a:solidFill>
            </a:endParaRPr>
          </a:p>
        </p:txBody>
      </p:sp>
      <p:sp>
        <p:nvSpPr>
          <p:cNvPr id="7" name="Text 6">
            <a:extLst>
              <a:ext uri="{FF2B5EF4-FFF2-40B4-BE49-F238E27FC236}">
                <a16:creationId xmlns:a16="http://schemas.microsoft.com/office/drawing/2014/main" id="{FF7F0023-45DE-DBFB-CC32-488EB81AC8B8}"/>
              </a:ext>
            </a:extLst>
          </p:cNvPr>
          <p:cNvSpPr/>
          <p:nvPr/>
        </p:nvSpPr>
        <p:spPr>
          <a:xfrm>
            <a:off x="4924228" y="3009206"/>
            <a:ext cx="2257326" cy="282079"/>
          </a:xfrm>
          <a:prstGeom prst="rect">
            <a:avLst/>
          </a:prstGeom>
          <a:noFill/>
          <a:ln/>
        </p:spPr>
        <p:txBody>
          <a:bodyPr wrap="none" lIns="0" tIns="0" rIns="0" bIns="0" rtlCol="0" anchor="t"/>
          <a:lstStyle/>
          <a:p>
            <a:pPr>
              <a:lnSpc>
                <a:spcPts val="2208"/>
              </a:lnSpc>
            </a:pPr>
            <a:r>
              <a:rPr lang="en-US" sz="1750" dirty="0">
                <a:latin typeface="Merriweather" pitchFamily="34" charset="0"/>
                <a:ea typeface="Merriweather" pitchFamily="34" charset="-122"/>
                <a:cs typeface="Merriweather" pitchFamily="34" charset="-120"/>
              </a:rPr>
              <a:t>Core High-Value</a:t>
            </a:r>
            <a:endParaRPr lang="en-US" sz="1750" dirty="0"/>
          </a:p>
        </p:txBody>
      </p:sp>
      <p:sp>
        <p:nvSpPr>
          <p:cNvPr id="8" name="Text 7">
            <a:extLst>
              <a:ext uri="{FF2B5EF4-FFF2-40B4-BE49-F238E27FC236}">
                <a16:creationId xmlns:a16="http://schemas.microsoft.com/office/drawing/2014/main" id="{002237B1-792D-65CF-188C-9123B32146A3}"/>
              </a:ext>
            </a:extLst>
          </p:cNvPr>
          <p:cNvSpPr/>
          <p:nvPr/>
        </p:nvSpPr>
        <p:spPr>
          <a:xfrm>
            <a:off x="4924228" y="3399632"/>
            <a:ext cx="4371380" cy="288925"/>
          </a:xfrm>
          <a:prstGeom prst="rect">
            <a:avLst/>
          </a:prstGeom>
          <a:noFill/>
          <a:ln/>
        </p:spPr>
        <p:txBody>
          <a:bodyPr wrap="none" lIns="0" tIns="0" rIns="0" bIns="0" rtlCol="0" anchor="t"/>
          <a:lstStyle/>
          <a:p>
            <a:pPr>
              <a:lnSpc>
                <a:spcPts val="2250"/>
              </a:lnSpc>
            </a:pPr>
            <a:r>
              <a:rPr lang="en-US" sz="1417" dirty="0">
                <a:latin typeface="Merriweather" pitchFamily="34" charset="0"/>
                <a:ea typeface="Merriweather" pitchFamily="34" charset="-122"/>
                <a:cs typeface="Merriweather" pitchFamily="34" charset="-120"/>
              </a:rPr>
              <a:t>Deeply loyal customers.</a:t>
            </a:r>
            <a:endParaRPr lang="en-US" sz="1417" dirty="0"/>
          </a:p>
        </p:txBody>
      </p:sp>
      <p:sp>
        <p:nvSpPr>
          <p:cNvPr id="9" name="Text 9">
            <a:extLst>
              <a:ext uri="{FF2B5EF4-FFF2-40B4-BE49-F238E27FC236}">
                <a16:creationId xmlns:a16="http://schemas.microsoft.com/office/drawing/2014/main" id="{98BB6030-6D01-F94D-8C7E-3AE800C7FD84}"/>
              </a:ext>
            </a:extLst>
          </p:cNvPr>
          <p:cNvSpPr/>
          <p:nvPr/>
        </p:nvSpPr>
        <p:spPr>
          <a:xfrm>
            <a:off x="3137488" y="4288976"/>
            <a:ext cx="362162" cy="406302"/>
          </a:xfrm>
          <a:prstGeom prst="rect">
            <a:avLst/>
          </a:prstGeom>
          <a:noFill/>
          <a:ln/>
        </p:spPr>
        <p:txBody>
          <a:bodyPr wrap="none" lIns="0" tIns="0" rIns="0" bIns="0" rtlCol="0" anchor="t"/>
          <a:lstStyle/>
          <a:p>
            <a:pPr algn="ctr">
              <a:lnSpc>
                <a:spcPts val="2833"/>
              </a:lnSpc>
            </a:pPr>
            <a:r>
              <a:rPr lang="en-US" sz="1750" dirty="0">
                <a:solidFill>
                  <a:schemeClr val="bg1"/>
                </a:solidFill>
                <a:latin typeface="Merriweather" pitchFamily="34" charset="0"/>
              </a:rPr>
              <a:t>2</a:t>
            </a:r>
            <a:endParaRPr lang="en-US" sz="1750" dirty="0">
              <a:solidFill>
                <a:schemeClr val="bg1"/>
              </a:solidFill>
            </a:endParaRPr>
          </a:p>
        </p:txBody>
      </p:sp>
      <p:sp>
        <p:nvSpPr>
          <p:cNvPr id="10" name="Text 10">
            <a:extLst>
              <a:ext uri="{FF2B5EF4-FFF2-40B4-BE49-F238E27FC236}">
                <a16:creationId xmlns:a16="http://schemas.microsoft.com/office/drawing/2014/main" id="{F1E12A94-6AD9-05E0-AE19-B6E4DE2A3A76}"/>
              </a:ext>
            </a:extLst>
          </p:cNvPr>
          <p:cNvSpPr/>
          <p:nvPr/>
        </p:nvSpPr>
        <p:spPr>
          <a:xfrm>
            <a:off x="5600404" y="4094857"/>
            <a:ext cx="2110184" cy="282079"/>
          </a:xfrm>
          <a:prstGeom prst="rect">
            <a:avLst/>
          </a:prstGeom>
          <a:noFill/>
          <a:ln/>
        </p:spPr>
        <p:txBody>
          <a:bodyPr wrap="none" lIns="0" tIns="0" rIns="0" bIns="0" rtlCol="0" anchor="t"/>
          <a:lstStyle/>
          <a:p>
            <a:pPr>
              <a:lnSpc>
                <a:spcPts val="2208"/>
              </a:lnSpc>
            </a:pPr>
            <a:r>
              <a:rPr lang="en-US" sz="1750" dirty="0">
                <a:latin typeface="Merriweather" pitchFamily="34" charset="0"/>
                <a:ea typeface="Merriweather" pitchFamily="34" charset="-122"/>
                <a:cs typeface="Merriweather" pitchFamily="34" charset="-120"/>
              </a:rPr>
              <a:t>Moderate to High</a:t>
            </a:r>
            <a:endParaRPr lang="en-US" sz="1750" dirty="0"/>
          </a:p>
        </p:txBody>
      </p:sp>
      <p:sp>
        <p:nvSpPr>
          <p:cNvPr id="11" name="Text 11">
            <a:extLst>
              <a:ext uri="{FF2B5EF4-FFF2-40B4-BE49-F238E27FC236}">
                <a16:creationId xmlns:a16="http://schemas.microsoft.com/office/drawing/2014/main" id="{DF695395-045E-100E-F20B-E42B12B97324}"/>
              </a:ext>
            </a:extLst>
          </p:cNvPr>
          <p:cNvSpPr/>
          <p:nvPr/>
        </p:nvSpPr>
        <p:spPr>
          <a:xfrm>
            <a:off x="5600404" y="4485283"/>
            <a:ext cx="2110184" cy="288925"/>
          </a:xfrm>
          <a:prstGeom prst="rect">
            <a:avLst/>
          </a:prstGeom>
          <a:noFill/>
          <a:ln/>
        </p:spPr>
        <p:txBody>
          <a:bodyPr wrap="none" lIns="0" tIns="0" rIns="0" bIns="0" rtlCol="0" anchor="t"/>
          <a:lstStyle/>
          <a:p>
            <a:pPr>
              <a:lnSpc>
                <a:spcPts val="2250"/>
              </a:lnSpc>
            </a:pPr>
            <a:r>
              <a:rPr lang="en-US" sz="1417" dirty="0">
                <a:latin typeface="Merriweather" pitchFamily="34" charset="0"/>
                <a:ea typeface="Merriweather" pitchFamily="34" charset="-122"/>
                <a:cs typeface="Merriweather" pitchFamily="34" charset="-120"/>
              </a:rPr>
              <a:t>Moderate to high spenders with recent inactivity.</a:t>
            </a:r>
            <a:endParaRPr lang="en-US" sz="1417" dirty="0"/>
          </a:p>
        </p:txBody>
      </p:sp>
      <p:sp>
        <p:nvSpPr>
          <p:cNvPr id="12" name="Text 13">
            <a:extLst>
              <a:ext uri="{FF2B5EF4-FFF2-40B4-BE49-F238E27FC236}">
                <a16:creationId xmlns:a16="http://schemas.microsoft.com/office/drawing/2014/main" id="{3A50C82B-34FF-8389-6DD5-38DD55CDA312}"/>
              </a:ext>
            </a:extLst>
          </p:cNvPr>
          <p:cNvSpPr/>
          <p:nvPr/>
        </p:nvSpPr>
        <p:spPr>
          <a:xfrm>
            <a:off x="3223191" y="5354657"/>
            <a:ext cx="145356" cy="361157"/>
          </a:xfrm>
          <a:prstGeom prst="rect">
            <a:avLst/>
          </a:prstGeom>
          <a:noFill/>
          <a:ln/>
        </p:spPr>
        <p:txBody>
          <a:bodyPr wrap="none" lIns="0" tIns="0" rIns="0" bIns="0" rtlCol="0" anchor="t"/>
          <a:lstStyle/>
          <a:p>
            <a:pPr algn="ctr">
              <a:lnSpc>
                <a:spcPts val="2833"/>
              </a:lnSpc>
            </a:pPr>
            <a:r>
              <a:rPr lang="en-US" sz="1750" dirty="0">
                <a:solidFill>
                  <a:schemeClr val="bg1"/>
                </a:solidFill>
                <a:latin typeface="Merriweather" pitchFamily="34" charset="0"/>
              </a:rPr>
              <a:t>1</a:t>
            </a:r>
            <a:endParaRPr lang="en-US" sz="1750" dirty="0">
              <a:solidFill>
                <a:schemeClr val="bg1"/>
              </a:solidFill>
            </a:endParaRPr>
          </a:p>
        </p:txBody>
      </p:sp>
      <p:sp>
        <p:nvSpPr>
          <p:cNvPr id="13" name="Text 14">
            <a:extLst>
              <a:ext uri="{FF2B5EF4-FFF2-40B4-BE49-F238E27FC236}">
                <a16:creationId xmlns:a16="http://schemas.microsoft.com/office/drawing/2014/main" id="{BE2C1B58-DA56-769E-4C5C-ACAC1A4299A7}"/>
              </a:ext>
            </a:extLst>
          </p:cNvPr>
          <p:cNvSpPr/>
          <p:nvPr/>
        </p:nvSpPr>
        <p:spPr>
          <a:xfrm>
            <a:off x="6276580" y="5180509"/>
            <a:ext cx="5046416" cy="612775"/>
          </a:xfrm>
          <a:prstGeom prst="rect">
            <a:avLst/>
          </a:prstGeom>
          <a:noFill/>
          <a:ln/>
        </p:spPr>
        <p:txBody>
          <a:bodyPr wrap="none" lIns="0" tIns="0" rIns="0" bIns="0" rtlCol="0" anchor="t"/>
          <a:lstStyle/>
          <a:p>
            <a:pPr>
              <a:lnSpc>
                <a:spcPts val="2208"/>
              </a:lnSpc>
            </a:pPr>
            <a:r>
              <a:rPr lang="en-US" sz="1750" dirty="0">
                <a:latin typeface="Merriweather" pitchFamily="34" charset="0"/>
                <a:ea typeface="Merriweather" pitchFamily="34" charset="-122"/>
                <a:cs typeface="Merriweather" pitchFamily="34" charset="-120"/>
              </a:rPr>
              <a:t>High-Value Loyal</a:t>
            </a:r>
          </a:p>
          <a:p>
            <a:pPr>
              <a:lnSpc>
                <a:spcPts val="2208"/>
              </a:lnSpc>
            </a:pPr>
            <a:r>
              <a:rPr lang="en-US" dirty="0">
                <a:latin typeface="Merriweather" panose="00000500000000000000" pitchFamily="2" charset="0"/>
                <a:ea typeface="Merriweather" pitchFamily="34" charset="-122"/>
                <a:cs typeface="Merriweather" pitchFamily="34" charset="-120"/>
              </a:rPr>
              <a:t>Loyal customers and at-risk high spenders.</a:t>
            </a:r>
            <a:endParaRPr lang="en-US" dirty="0">
              <a:latin typeface="Merriweather" panose="00000500000000000000" pitchFamily="2" charset="0"/>
            </a:endParaRPr>
          </a:p>
          <a:p>
            <a:pPr>
              <a:lnSpc>
                <a:spcPts val="2208"/>
              </a:lnSpc>
            </a:pPr>
            <a:endParaRPr lang="en-US" sz="1750" dirty="0"/>
          </a:p>
        </p:txBody>
      </p:sp>
    </p:spTree>
    <p:extLst>
      <p:ext uri="{BB962C8B-B14F-4D97-AF65-F5344CB8AC3E}">
        <p14:creationId xmlns:p14="http://schemas.microsoft.com/office/powerpoint/2010/main" val="2169097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6AC0-180F-6365-2302-3608515C65DA}"/>
              </a:ext>
            </a:extLst>
          </p:cNvPr>
          <p:cNvSpPr>
            <a:spLocks noGrp="1"/>
          </p:cNvSpPr>
          <p:nvPr>
            <p:ph type="title"/>
          </p:nvPr>
        </p:nvSpPr>
        <p:spPr/>
        <p:txBody>
          <a:bodyPr/>
          <a:lstStyle/>
          <a:p>
            <a:r>
              <a:rPr lang="en-IN" sz="3600" dirty="0">
                <a:ea typeface="Calibri" panose="020F0502020204030204" pitchFamily="34" charset="0"/>
                <a:cs typeface="Calibri" panose="020F0502020204030204" pitchFamily="34" charset="0"/>
              </a:rPr>
              <a:t>07. Churn Prediction</a:t>
            </a:r>
          </a:p>
        </p:txBody>
      </p:sp>
      <p:sp>
        <p:nvSpPr>
          <p:cNvPr id="3" name="Content Placeholder 2">
            <a:extLst>
              <a:ext uri="{FF2B5EF4-FFF2-40B4-BE49-F238E27FC236}">
                <a16:creationId xmlns:a16="http://schemas.microsoft.com/office/drawing/2014/main" id="{0A047EC9-71E7-82F7-6179-4B16023CB84E}"/>
              </a:ext>
            </a:extLst>
          </p:cNvPr>
          <p:cNvSpPr>
            <a:spLocks noGrp="1"/>
          </p:cNvSpPr>
          <p:nvPr>
            <p:ph idx="1"/>
          </p:nvPr>
        </p:nvSpPr>
        <p:spPr>
          <a:xfrm>
            <a:off x="678880" y="1856269"/>
            <a:ext cx="5107239" cy="4398066"/>
          </a:xfrm>
        </p:spPr>
        <p:txBody>
          <a:bodyPr>
            <a:normAutofit/>
          </a:bodyPr>
          <a:lstStyle/>
          <a:p>
            <a:pPr marL="0" indent="0">
              <a:lnSpc>
                <a:spcPct val="150000"/>
              </a:lnSpc>
              <a:buNone/>
            </a:pPr>
            <a:r>
              <a:rPr lang="en-US" sz="2200" b="1" u="sng" dirty="0"/>
              <a:t>Model Used: </a:t>
            </a:r>
          </a:p>
          <a:p>
            <a:pPr lvl="1">
              <a:lnSpc>
                <a:spcPct val="150000"/>
              </a:lnSpc>
            </a:pPr>
            <a:r>
              <a:rPr lang="en-US" sz="2200" dirty="0"/>
              <a:t>Logistic Regression, Random Forest.</a:t>
            </a:r>
          </a:p>
          <a:p>
            <a:pPr marL="0" indent="0">
              <a:lnSpc>
                <a:spcPct val="150000"/>
              </a:lnSpc>
              <a:buNone/>
            </a:pPr>
            <a:r>
              <a:rPr lang="en-US" sz="2200" b="1" u="sng" dirty="0"/>
              <a:t>Features: </a:t>
            </a:r>
          </a:p>
          <a:p>
            <a:pPr lvl="1">
              <a:lnSpc>
                <a:spcPct val="150000"/>
              </a:lnSpc>
            </a:pPr>
            <a:r>
              <a:rPr lang="en-US" sz="2200" dirty="0"/>
              <a:t>RFM scores, purchase patterns.</a:t>
            </a:r>
          </a:p>
          <a:p>
            <a:pPr marL="0" indent="0">
              <a:lnSpc>
                <a:spcPct val="150000"/>
              </a:lnSpc>
              <a:buNone/>
            </a:pPr>
            <a:r>
              <a:rPr lang="en-US" sz="2200" b="1" u="sng" dirty="0"/>
              <a:t>Outcome: </a:t>
            </a:r>
          </a:p>
          <a:p>
            <a:pPr lvl="1">
              <a:lnSpc>
                <a:spcPct val="150000"/>
              </a:lnSpc>
            </a:pPr>
            <a:r>
              <a:rPr lang="en-US" sz="2200" dirty="0"/>
              <a:t>Identify customers likely to churn.</a:t>
            </a:r>
          </a:p>
          <a:p>
            <a:pPr marL="0" indent="0">
              <a:buNone/>
            </a:pPr>
            <a:endParaRPr lang="en-IN" dirty="0"/>
          </a:p>
        </p:txBody>
      </p:sp>
      <p:sp>
        <p:nvSpPr>
          <p:cNvPr id="5" name="TextBox 4">
            <a:extLst>
              <a:ext uri="{FF2B5EF4-FFF2-40B4-BE49-F238E27FC236}">
                <a16:creationId xmlns:a16="http://schemas.microsoft.com/office/drawing/2014/main" id="{E4FCDD50-0749-3497-50B6-C791A82033EB}"/>
              </a:ext>
            </a:extLst>
          </p:cNvPr>
          <p:cNvSpPr txBox="1"/>
          <p:nvPr/>
        </p:nvSpPr>
        <p:spPr>
          <a:xfrm>
            <a:off x="6760027" y="537859"/>
            <a:ext cx="3837215" cy="584775"/>
          </a:xfrm>
          <a:prstGeom prst="rect">
            <a:avLst/>
          </a:prstGeom>
          <a:noFill/>
        </p:spPr>
        <p:txBody>
          <a:bodyPr wrap="square">
            <a:spAutoFit/>
          </a:bodyPr>
          <a:lstStyle/>
          <a:p>
            <a:r>
              <a:rPr lang="en-IN" sz="3200" b="1" dirty="0">
                <a:solidFill>
                  <a:schemeClr val="bg1"/>
                </a:solidFill>
              </a:rPr>
              <a:t>Actionable Insights:</a:t>
            </a:r>
          </a:p>
        </p:txBody>
      </p:sp>
      <p:sp>
        <p:nvSpPr>
          <p:cNvPr id="7" name="TextBox 6">
            <a:extLst>
              <a:ext uri="{FF2B5EF4-FFF2-40B4-BE49-F238E27FC236}">
                <a16:creationId xmlns:a16="http://schemas.microsoft.com/office/drawing/2014/main" id="{0C18E606-E2FE-1816-D738-72ED96D5F77B}"/>
              </a:ext>
            </a:extLst>
          </p:cNvPr>
          <p:cNvSpPr txBox="1"/>
          <p:nvPr/>
        </p:nvSpPr>
        <p:spPr>
          <a:xfrm>
            <a:off x="7186048" y="1216440"/>
            <a:ext cx="4327071" cy="1390252"/>
          </a:xfrm>
          <a:prstGeom prst="rect">
            <a:avLst/>
          </a:prstGeom>
          <a:noFill/>
        </p:spPr>
        <p:txBody>
          <a:bodyPr wrap="square">
            <a:spAutoFit/>
          </a:bodyPr>
          <a:lstStyle/>
          <a:p>
            <a:pPr marL="342900" indent="-342900" algn="l">
              <a:lnSpc>
                <a:spcPct val="200000"/>
              </a:lnSpc>
              <a:spcBef>
                <a:spcPts val="300"/>
              </a:spcBef>
              <a:buFont typeface="Arial" panose="020B0604020202020204" pitchFamily="34" charset="0"/>
              <a:buChar char="•"/>
            </a:pPr>
            <a:r>
              <a:rPr lang="en-US" sz="2200" b="1"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Launch </a:t>
            </a:r>
            <a:r>
              <a:rPr lang="en-US" sz="2200" b="1" i="0" dirty="0">
                <a:solidFill>
                  <a:srgbClr val="FFFF00"/>
                </a:solidFill>
                <a:effectLst/>
                <a:latin typeface="Calibri" panose="020F0502020204030204" pitchFamily="34" charset="0"/>
                <a:ea typeface="Calibri" panose="020F0502020204030204" pitchFamily="34" charset="0"/>
                <a:cs typeface="Calibri" panose="020F0502020204030204" pitchFamily="34" charset="0"/>
              </a:rPr>
              <a:t>retention campaigns.</a:t>
            </a:r>
          </a:p>
          <a:p>
            <a:pPr marL="342900" indent="-342900" algn="l">
              <a:lnSpc>
                <a:spcPct val="200000"/>
              </a:lnSpc>
              <a:spcBef>
                <a:spcPts val="300"/>
              </a:spcBef>
              <a:buFont typeface="Arial" panose="020B0604020202020204" pitchFamily="34" charset="0"/>
              <a:buChar char="•"/>
            </a:pPr>
            <a:r>
              <a:rPr lang="en-US" sz="2200" b="1"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Provide </a:t>
            </a:r>
            <a:r>
              <a:rPr lang="en-US" sz="2200" b="1" i="0"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personalized offers.</a:t>
            </a:r>
          </a:p>
        </p:txBody>
      </p:sp>
      <p:pic>
        <p:nvPicPr>
          <p:cNvPr id="9" name="Picture 8">
            <a:extLst>
              <a:ext uri="{FF2B5EF4-FFF2-40B4-BE49-F238E27FC236}">
                <a16:creationId xmlns:a16="http://schemas.microsoft.com/office/drawing/2014/main" id="{7A322A58-39FE-EA93-A0B8-CD1918E19971}"/>
              </a:ext>
            </a:extLst>
          </p:cNvPr>
          <p:cNvPicPr>
            <a:picLocks noChangeAspect="1"/>
          </p:cNvPicPr>
          <p:nvPr/>
        </p:nvPicPr>
        <p:blipFill>
          <a:blip r:embed="rId2">
            <a:biLevel thresh="25000"/>
            <a:alphaModFix/>
            <a:extLst>
              <a:ext uri="{28A0092B-C50C-407E-A947-70E740481C1C}">
                <a14:useLocalDpi xmlns:a14="http://schemas.microsoft.com/office/drawing/2010/main" val="0"/>
              </a:ext>
            </a:extLst>
          </a:blip>
          <a:stretch>
            <a:fillRect/>
          </a:stretch>
        </p:blipFill>
        <p:spPr>
          <a:xfrm>
            <a:off x="6569168" y="2700498"/>
            <a:ext cx="5107238" cy="3713449"/>
          </a:xfrm>
          <a:prstGeom prst="rect">
            <a:avLst/>
          </a:prstGeom>
          <a:blipFill>
            <a:blip r:embed="rId3">
              <a:biLevel thresh="25000"/>
              <a:alphaModFix/>
            </a:blip>
            <a:tile tx="0" ty="0" sx="100000" sy="100000" flip="none" algn="tl"/>
          </a:blipFill>
          <a:ln>
            <a:solidFill>
              <a:schemeClr val="bg1"/>
            </a:solidFill>
          </a:ln>
        </p:spPr>
      </p:pic>
    </p:spTree>
    <p:extLst>
      <p:ext uri="{BB962C8B-B14F-4D97-AF65-F5344CB8AC3E}">
        <p14:creationId xmlns:p14="http://schemas.microsoft.com/office/powerpoint/2010/main" val="1830057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11BC29-8A5E-9D44-4157-4F56AF5DB100}"/>
              </a:ext>
            </a:extLst>
          </p:cNvPr>
          <p:cNvSpPr txBox="1"/>
          <p:nvPr/>
        </p:nvSpPr>
        <p:spPr>
          <a:xfrm>
            <a:off x="604158" y="470948"/>
            <a:ext cx="3314700" cy="827984"/>
          </a:xfrm>
          <a:prstGeom prst="rect">
            <a:avLst/>
          </a:prstGeom>
          <a:noFill/>
        </p:spPr>
        <p:txBody>
          <a:bodyPr wrap="square">
            <a:spAutoFit/>
          </a:bodyPr>
          <a:lstStyle/>
          <a:p>
            <a:pPr marL="0" indent="0">
              <a:lnSpc>
                <a:spcPts val="6050"/>
              </a:lnSpc>
              <a:buNone/>
            </a:pPr>
            <a:r>
              <a:rPr lang="en-US" sz="4400" b="1" dirty="0">
                <a:solidFill>
                  <a:srgbClr val="F5F0F0"/>
                </a:solidFill>
                <a:latin typeface="Calibri" panose="020F0502020204030204" pitchFamily="34" charset="0"/>
                <a:ea typeface="Calibri" panose="020F0502020204030204" pitchFamily="34" charset="0"/>
                <a:cs typeface="Calibri" panose="020F0502020204030204" pitchFamily="34" charset="0"/>
              </a:rPr>
              <a:t>Deployment</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195B9375-5BF4-4E98-D6CA-3F91D7895A44}"/>
              </a:ext>
            </a:extLst>
          </p:cNvPr>
          <p:cNvGrpSpPr/>
          <p:nvPr/>
        </p:nvGrpSpPr>
        <p:grpSpPr>
          <a:xfrm>
            <a:off x="375557" y="1818225"/>
            <a:ext cx="5846891" cy="3684503"/>
            <a:chOff x="1542455" y="3238976"/>
            <a:chExt cx="7175240" cy="3162536"/>
          </a:xfrm>
        </p:grpSpPr>
        <p:sp>
          <p:nvSpPr>
            <p:cNvPr id="7" name="Text 2">
              <a:extLst>
                <a:ext uri="{FF2B5EF4-FFF2-40B4-BE49-F238E27FC236}">
                  <a16:creationId xmlns:a16="http://schemas.microsoft.com/office/drawing/2014/main" id="{86D90DE2-0BA8-B1D3-9E3B-2C2E39F57D53}"/>
                </a:ext>
              </a:extLst>
            </p:cNvPr>
            <p:cNvSpPr/>
            <p:nvPr/>
          </p:nvSpPr>
          <p:spPr>
            <a:xfrm>
              <a:off x="1542455" y="3238976"/>
              <a:ext cx="2906197" cy="385524"/>
            </a:xfrm>
            <a:prstGeom prst="rect">
              <a:avLst/>
            </a:prstGeom>
            <a:noFill/>
            <a:ln/>
          </p:spPr>
          <p:txBody>
            <a:bodyPr wrap="none" lIns="0" tIns="0" rIns="0" bIns="0" rtlCol="0" anchor="t"/>
            <a:lstStyle/>
            <a:p>
              <a:pPr marL="342900" indent="-342900">
                <a:lnSpc>
                  <a:spcPts val="3000"/>
                </a:lnSpc>
                <a:buFont typeface="Wingdings" panose="05000000000000000000" pitchFamily="2" charset="2"/>
                <a:buChar char="ü"/>
              </a:pPr>
              <a:r>
                <a:rPr lang="en-US" sz="2400" b="1" dirty="0">
                  <a:solidFill>
                    <a:srgbClr val="E2E6E9"/>
                  </a:solidFill>
                  <a:latin typeface="Merriweather" pitchFamily="34" charset="0"/>
                  <a:ea typeface="Merriweather" pitchFamily="34" charset="-122"/>
                  <a:cs typeface="Merriweather" pitchFamily="34" charset="-120"/>
                </a:rPr>
                <a:t>Deploy Model</a:t>
              </a:r>
              <a:endParaRPr lang="en-US" sz="2400" b="1" dirty="0"/>
            </a:p>
          </p:txBody>
        </p:sp>
        <p:sp>
          <p:nvSpPr>
            <p:cNvPr id="8" name="Text 3">
              <a:extLst>
                <a:ext uri="{FF2B5EF4-FFF2-40B4-BE49-F238E27FC236}">
                  <a16:creationId xmlns:a16="http://schemas.microsoft.com/office/drawing/2014/main" id="{EB66B053-94AE-E4F2-4829-FAC5F056951C}"/>
                </a:ext>
              </a:extLst>
            </p:cNvPr>
            <p:cNvSpPr/>
            <p:nvPr/>
          </p:nvSpPr>
          <p:spPr>
            <a:xfrm>
              <a:off x="1825942" y="3789168"/>
              <a:ext cx="3085386" cy="789622"/>
            </a:xfrm>
            <a:prstGeom prst="rect">
              <a:avLst/>
            </a:prstGeom>
            <a:noFill/>
            <a:ln/>
          </p:spPr>
          <p:txBody>
            <a:bodyPr wrap="square" lIns="0" tIns="0" rIns="0" bIns="0" rtlCol="0" anchor="t"/>
            <a:lstStyle/>
            <a:p>
              <a:pPr marL="0" indent="0">
                <a:lnSpc>
                  <a:spcPts val="3100"/>
                </a:lnSpc>
                <a:buNone/>
              </a:pPr>
              <a:r>
                <a:rPr lang="en-US" dirty="0">
                  <a:solidFill>
                    <a:srgbClr val="E2E6E9"/>
                  </a:solidFill>
                  <a:latin typeface="Merriweather" pitchFamily="34" charset="0"/>
                  <a:ea typeface="Merriweather" pitchFamily="34" charset="-122"/>
                  <a:cs typeface="Merriweather" pitchFamily="34" charset="-120"/>
                </a:rPr>
                <a:t>In a production environment.</a:t>
              </a:r>
              <a:endParaRPr lang="en-US" dirty="0"/>
            </a:p>
          </p:txBody>
        </p:sp>
        <p:sp>
          <p:nvSpPr>
            <p:cNvPr id="10" name="Text 5">
              <a:extLst>
                <a:ext uri="{FF2B5EF4-FFF2-40B4-BE49-F238E27FC236}">
                  <a16:creationId xmlns:a16="http://schemas.microsoft.com/office/drawing/2014/main" id="{4232ACD8-3546-5D36-8B2F-05DDCB4504F7}"/>
                </a:ext>
              </a:extLst>
            </p:cNvPr>
            <p:cNvSpPr/>
            <p:nvPr/>
          </p:nvSpPr>
          <p:spPr>
            <a:xfrm>
              <a:off x="5374124" y="3238976"/>
              <a:ext cx="2906197" cy="385524"/>
            </a:xfrm>
            <a:prstGeom prst="rect">
              <a:avLst/>
            </a:prstGeom>
            <a:noFill/>
            <a:ln/>
          </p:spPr>
          <p:txBody>
            <a:bodyPr wrap="none" lIns="0" tIns="0" rIns="0" bIns="0" rtlCol="0" anchor="t"/>
            <a:lstStyle/>
            <a:p>
              <a:pPr marL="342900" indent="-342900">
                <a:lnSpc>
                  <a:spcPts val="3000"/>
                </a:lnSpc>
                <a:buFont typeface="Wingdings" panose="05000000000000000000" pitchFamily="2" charset="2"/>
                <a:buChar char="ü"/>
              </a:pPr>
              <a:r>
                <a:rPr lang="en-US" sz="2400" b="1" dirty="0">
                  <a:solidFill>
                    <a:srgbClr val="E2E6E9"/>
                  </a:solidFill>
                  <a:latin typeface="Merriweather" pitchFamily="34" charset="0"/>
                  <a:ea typeface="Merriweather" pitchFamily="34" charset="-122"/>
                  <a:cs typeface="Merriweather" pitchFamily="34" charset="-120"/>
                </a:rPr>
                <a:t>Create Dashboards</a:t>
              </a:r>
              <a:endParaRPr lang="en-US" sz="2400" b="1" dirty="0"/>
            </a:p>
          </p:txBody>
        </p:sp>
        <p:sp>
          <p:nvSpPr>
            <p:cNvPr id="11" name="Text 6">
              <a:extLst>
                <a:ext uri="{FF2B5EF4-FFF2-40B4-BE49-F238E27FC236}">
                  <a16:creationId xmlns:a16="http://schemas.microsoft.com/office/drawing/2014/main" id="{848E739F-F2F8-EE38-F27B-555C6666265B}"/>
                </a:ext>
              </a:extLst>
            </p:cNvPr>
            <p:cNvSpPr/>
            <p:nvPr/>
          </p:nvSpPr>
          <p:spPr>
            <a:xfrm>
              <a:off x="5811498" y="3754991"/>
              <a:ext cx="2906197" cy="789622"/>
            </a:xfrm>
            <a:prstGeom prst="rect">
              <a:avLst/>
            </a:prstGeom>
            <a:noFill/>
            <a:ln/>
          </p:spPr>
          <p:txBody>
            <a:bodyPr wrap="square" lIns="0" tIns="0" rIns="0" bIns="0" rtlCol="0" anchor="t"/>
            <a:lstStyle/>
            <a:p>
              <a:pPr marL="0" indent="0">
                <a:lnSpc>
                  <a:spcPts val="3100"/>
                </a:lnSpc>
                <a:buNone/>
              </a:pPr>
              <a:r>
                <a:rPr lang="en-US" dirty="0">
                  <a:solidFill>
                    <a:srgbClr val="E2E6E9"/>
                  </a:solidFill>
                  <a:latin typeface="Merriweather" pitchFamily="34" charset="0"/>
                  <a:ea typeface="Merriweather" pitchFamily="34" charset="-122"/>
                  <a:cs typeface="Merriweather" pitchFamily="34" charset="-120"/>
                </a:rPr>
                <a:t>For real-time monitoring.</a:t>
              </a:r>
              <a:endParaRPr lang="en-US" dirty="0"/>
            </a:p>
          </p:txBody>
        </p:sp>
        <p:sp>
          <p:nvSpPr>
            <p:cNvPr id="13" name="Text 8">
              <a:extLst>
                <a:ext uri="{FF2B5EF4-FFF2-40B4-BE49-F238E27FC236}">
                  <a16:creationId xmlns:a16="http://schemas.microsoft.com/office/drawing/2014/main" id="{24DC1BD0-C461-9B4A-2BAA-EB5A0E16E923}"/>
                </a:ext>
              </a:extLst>
            </p:cNvPr>
            <p:cNvSpPr/>
            <p:nvPr/>
          </p:nvSpPr>
          <p:spPr>
            <a:xfrm>
              <a:off x="1542455" y="5086588"/>
              <a:ext cx="3085386" cy="385524"/>
            </a:xfrm>
            <a:prstGeom prst="rect">
              <a:avLst/>
            </a:prstGeom>
            <a:noFill/>
            <a:ln/>
          </p:spPr>
          <p:txBody>
            <a:bodyPr wrap="none" lIns="0" tIns="0" rIns="0" bIns="0" rtlCol="0" anchor="t"/>
            <a:lstStyle/>
            <a:p>
              <a:pPr marL="342900" indent="-342900">
                <a:lnSpc>
                  <a:spcPts val="3000"/>
                </a:lnSpc>
                <a:buFont typeface="Wingdings" panose="05000000000000000000" pitchFamily="2" charset="2"/>
                <a:buChar char="ü"/>
              </a:pPr>
              <a:r>
                <a:rPr lang="en-US" sz="2400" b="1" dirty="0">
                  <a:solidFill>
                    <a:srgbClr val="E2E6E9"/>
                  </a:solidFill>
                  <a:latin typeface="Merriweather" pitchFamily="34" charset="0"/>
                  <a:ea typeface="Merriweather" pitchFamily="34" charset="-122"/>
                  <a:cs typeface="Merriweather" pitchFamily="34" charset="-120"/>
                </a:rPr>
                <a:t>Tools Used</a:t>
              </a:r>
              <a:endParaRPr lang="en-US" sz="2400" b="1" dirty="0"/>
            </a:p>
          </p:txBody>
        </p:sp>
        <p:sp>
          <p:nvSpPr>
            <p:cNvPr id="14" name="Text 9">
              <a:extLst>
                <a:ext uri="{FF2B5EF4-FFF2-40B4-BE49-F238E27FC236}">
                  <a16:creationId xmlns:a16="http://schemas.microsoft.com/office/drawing/2014/main" id="{2682EF50-0552-D39C-BDD3-07B73EF15729}"/>
                </a:ext>
              </a:extLst>
            </p:cNvPr>
            <p:cNvSpPr/>
            <p:nvPr/>
          </p:nvSpPr>
          <p:spPr>
            <a:xfrm>
              <a:off x="1979948" y="5611890"/>
              <a:ext cx="6737747" cy="789622"/>
            </a:xfrm>
            <a:prstGeom prst="rect">
              <a:avLst/>
            </a:prstGeom>
            <a:noFill/>
            <a:ln/>
          </p:spPr>
          <p:txBody>
            <a:bodyPr wrap="square" lIns="0" tIns="0" rIns="0" bIns="0" rtlCol="0" anchor="t"/>
            <a:lstStyle/>
            <a:p>
              <a:pPr marL="0" indent="0">
                <a:lnSpc>
                  <a:spcPts val="3100"/>
                </a:lnSpc>
                <a:buNone/>
              </a:pPr>
              <a:r>
                <a:rPr lang="en-US" dirty="0">
                  <a:solidFill>
                    <a:srgbClr val="E2E6E9"/>
                  </a:solidFill>
                  <a:latin typeface="Merriweather" pitchFamily="34" charset="0"/>
                  <a:ea typeface="Merriweather" pitchFamily="34" charset="-122"/>
                  <a:cs typeface="Merriweather" pitchFamily="34" charset="-120"/>
                </a:rPr>
                <a:t>Python (Gradio) for deployment, Tableau / Power BI for dashboards.</a:t>
              </a:r>
              <a:endParaRPr lang="en-US" dirty="0"/>
            </a:p>
          </p:txBody>
        </p:sp>
      </p:grpSp>
      <p:pic>
        <p:nvPicPr>
          <p:cNvPr id="1028" name="Picture 4" descr="Visualization of business data with graphs and statistical analysis concepts.  55569331 Vector Art at Vecteezy">
            <a:extLst>
              <a:ext uri="{FF2B5EF4-FFF2-40B4-BE49-F238E27FC236}">
                <a16:creationId xmlns:a16="http://schemas.microsoft.com/office/drawing/2014/main" id="{806B0161-AE9A-893F-B2AE-0202E7E8062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620185" y="178772"/>
            <a:ext cx="5592433" cy="482880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825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2A7080-99E7-9E08-B3F2-3F9A35D44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48659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50771-9AC4-8EA0-E296-320D79493561}"/>
              </a:ext>
            </a:extLst>
          </p:cNvPr>
          <p:cNvSpPr>
            <a:spLocks noGrp="1"/>
          </p:cNvSpPr>
          <p:nvPr>
            <p:ph type="title"/>
          </p:nvPr>
        </p:nvSpPr>
        <p:spPr>
          <a:xfrm>
            <a:off x="335984" y="589179"/>
            <a:ext cx="10834234" cy="816429"/>
          </a:xfrm>
        </p:spPr>
        <p:txBody>
          <a:bodyPr>
            <a:noAutofit/>
          </a:bodyPr>
          <a:lstStyle/>
          <a:p>
            <a:r>
              <a:rPr lang="en-IN" sz="6600" dirty="0">
                <a:solidFill>
                  <a:schemeClr val="accent1">
                    <a:lumMod val="75000"/>
                  </a:schemeClr>
                </a:solidFill>
                <a:latin typeface="Goudy Old Style" panose="02020502050305020303" pitchFamily="18" charset="0"/>
              </a:rPr>
              <a:t>Conclusion</a:t>
            </a:r>
            <a:br>
              <a:rPr lang="en-IN" sz="6600" dirty="0">
                <a:solidFill>
                  <a:schemeClr val="accent1">
                    <a:lumMod val="75000"/>
                  </a:schemeClr>
                </a:solidFill>
                <a:latin typeface="Goudy Old Style" panose="02020502050305020303" pitchFamily="18" charset="0"/>
              </a:rPr>
            </a:br>
            <a:endParaRPr lang="en-IN" sz="6600" dirty="0"/>
          </a:p>
        </p:txBody>
      </p:sp>
      <p:pic>
        <p:nvPicPr>
          <p:cNvPr id="3" name="Picture 2">
            <a:extLst>
              <a:ext uri="{FF2B5EF4-FFF2-40B4-BE49-F238E27FC236}">
                <a16:creationId xmlns:a16="http://schemas.microsoft.com/office/drawing/2014/main" id="{ABAF4526-CE5D-29DA-7244-D8C41EF032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3236" y="1832326"/>
            <a:ext cx="4462046" cy="4462046"/>
          </a:xfrm>
          <a:prstGeom prst="rect">
            <a:avLst/>
          </a:prstGeom>
        </p:spPr>
      </p:pic>
      <p:sp>
        <p:nvSpPr>
          <p:cNvPr id="5" name="TextBox 4">
            <a:extLst>
              <a:ext uri="{FF2B5EF4-FFF2-40B4-BE49-F238E27FC236}">
                <a16:creationId xmlns:a16="http://schemas.microsoft.com/office/drawing/2014/main" id="{32DE24F1-6BD1-DF2B-896E-415D1F7197F4}"/>
              </a:ext>
            </a:extLst>
          </p:cNvPr>
          <p:cNvSpPr txBox="1"/>
          <p:nvPr/>
        </p:nvSpPr>
        <p:spPr>
          <a:xfrm>
            <a:off x="1877787" y="1293717"/>
            <a:ext cx="6204856" cy="538609"/>
          </a:xfrm>
          <a:prstGeom prst="rect">
            <a:avLst/>
          </a:prstGeom>
          <a:noFill/>
        </p:spPr>
        <p:txBody>
          <a:bodyPr wrap="square">
            <a:spAutoFit/>
          </a:bodyPr>
          <a:lstStyle/>
          <a:p>
            <a:pPr algn="ctr"/>
            <a:r>
              <a:rPr lang="en-IN" sz="29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Key Takeaways:</a:t>
            </a:r>
          </a:p>
        </p:txBody>
      </p:sp>
      <p:sp>
        <p:nvSpPr>
          <p:cNvPr id="6" name="Freeform 2">
            <a:extLst>
              <a:ext uri="{FF2B5EF4-FFF2-40B4-BE49-F238E27FC236}">
                <a16:creationId xmlns:a16="http://schemas.microsoft.com/office/drawing/2014/main" id="{0875A1E0-9751-5F0B-9ACB-28483CF2DB03}"/>
              </a:ext>
            </a:extLst>
          </p:cNvPr>
          <p:cNvSpPr/>
          <p:nvPr/>
        </p:nvSpPr>
        <p:spPr>
          <a:xfrm rot="5400000">
            <a:off x="8375721" y="-2279722"/>
            <a:ext cx="1536557" cy="6096002"/>
          </a:xfrm>
          <a:custGeom>
            <a:avLst/>
            <a:gdLst/>
            <a:ahLst/>
            <a:cxnLst/>
            <a:rect l="l" t="t" r="r" b="b"/>
            <a:pathLst>
              <a:path w="4991149" h="7541571">
                <a:moveTo>
                  <a:pt x="0" y="0"/>
                </a:moveTo>
                <a:lnTo>
                  <a:pt x="4991149" y="0"/>
                </a:lnTo>
                <a:lnTo>
                  <a:pt x="4991149" y="7541572"/>
                </a:lnTo>
                <a:lnTo>
                  <a:pt x="0" y="7541572"/>
                </a:lnTo>
                <a:lnTo>
                  <a:pt x="0" y="0"/>
                </a:lnTo>
                <a:close/>
              </a:path>
            </a:pathLst>
          </a:custGeom>
          <a:blipFill dpi="0" rotWithShape="1">
            <a:blip r:embed="rId3">
              <a:alphaModFix amt="24000"/>
              <a:extLst>
                <a:ext uri="{96DAC541-7B7A-43D3-8B79-37D633B846F1}">
                  <asvg:svgBlip xmlns:asvg="http://schemas.microsoft.com/office/drawing/2016/SVG/main" r:embed="rId4"/>
                </a:ext>
              </a:extLst>
            </a:blip>
            <a:srcRect/>
            <a:stretch>
              <a:fillRect l="-224827" t="-23713" b="1"/>
            </a:stretch>
          </a:blipFill>
        </p:spPr>
        <p:txBody>
          <a:bodyPr/>
          <a:lstStyle/>
          <a:p>
            <a:endParaRPr lang="en-IN"/>
          </a:p>
        </p:txBody>
      </p:sp>
      <p:pic>
        <p:nvPicPr>
          <p:cNvPr id="7" name="Picture 6">
            <a:extLst>
              <a:ext uri="{FF2B5EF4-FFF2-40B4-BE49-F238E27FC236}">
                <a16:creationId xmlns:a16="http://schemas.microsoft.com/office/drawing/2014/main" id="{52CFE7CB-5C62-1DB7-2C24-D09C5AE9A4F6}"/>
              </a:ext>
            </a:extLst>
          </p:cNvPr>
          <p:cNvPicPr>
            <a:picLocks noChangeAspect="1"/>
          </p:cNvPicPr>
          <p:nvPr/>
        </p:nvPicPr>
        <p:blipFill>
          <a:blip r:embed="rId5" cstate="print">
            <a:duotone>
              <a:schemeClr val="accent4">
                <a:shade val="45000"/>
                <a:satMod val="135000"/>
              </a:schemeClr>
              <a:prstClr val="white"/>
            </a:duotone>
            <a:alphaModFix amt="85000"/>
            <a:extLst>
              <a:ext uri="{28A0092B-C50C-407E-A947-70E740481C1C}">
                <a14:useLocalDpi xmlns:a14="http://schemas.microsoft.com/office/drawing/2010/main" val="0"/>
              </a:ext>
            </a:extLst>
          </a:blip>
          <a:stretch>
            <a:fillRect/>
          </a:stretch>
        </p:blipFill>
        <p:spPr>
          <a:xfrm>
            <a:off x="2738423" y="1202812"/>
            <a:ext cx="540000" cy="540000"/>
          </a:xfrm>
          <a:prstGeom prst="rect">
            <a:avLst/>
          </a:prstGeom>
        </p:spPr>
      </p:pic>
      <p:sp>
        <p:nvSpPr>
          <p:cNvPr id="11" name="TextBox 10">
            <a:extLst>
              <a:ext uri="{FF2B5EF4-FFF2-40B4-BE49-F238E27FC236}">
                <a16:creationId xmlns:a16="http://schemas.microsoft.com/office/drawing/2014/main" id="{28291B88-B959-519D-8173-FD1F43324421}"/>
              </a:ext>
            </a:extLst>
          </p:cNvPr>
          <p:cNvSpPr txBox="1"/>
          <p:nvPr/>
        </p:nvSpPr>
        <p:spPr>
          <a:xfrm>
            <a:off x="3737946" y="2036017"/>
            <a:ext cx="7120554" cy="430887"/>
          </a:xfrm>
          <a:prstGeom prst="rect">
            <a:avLst/>
          </a:prstGeom>
          <a:noFill/>
        </p:spPr>
        <p:txBody>
          <a:bodyPr wrap="square">
            <a:spAutoFit/>
          </a:bodyPr>
          <a:lstStyle/>
          <a:p>
            <a:pPr marL="285750" indent="-285750">
              <a:buFont typeface="Wingdings" panose="05000000000000000000" pitchFamily="2" charset="2"/>
              <a:buChar char="Ø"/>
            </a:pPr>
            <a:r>
              <a:rPr lang="en-US" sz="2200" b="0" dirty="0"/>
              <a:t>RFM and clustering provided actionable customer insights.</a:t>
            </a:r>
            <a:endParaRPr lang="en-IN" sz="2200" b="0" dirty="0"/>
          </a:p>
        </p:txBody>
      </p:sp>
      <p:sp>
        <p:nvSpPr>
          <p:cNvPr id="13" name="TextBox 12">
            <a:extLst>
              <a:ext uri="{FF2B5EF4-FFF2-40B4-BE49-F238E27FC236}">
                <a16:creationId xmlns:a16="http://schemas.microsoft.com/office/drawing/2014/main" id="{EDCBEE22-34B7-7493-6163-1A487A4E7CAF}"/>
              </a:ext>
            </a:extLst>
          </p:cNvPr>
          <p:cNvSpPr txBox="1"/>
          <p:nvPr/>
        </p:nvSpPr>
        <p:spPr>
          <a:xfrm>
            <a:off x="3737946" y="2535476"/>
            <a:ext cx="6891954" cy="430887"/>
          </a:xfrm>
          <a:prstGeom prst="rect">
            <a:avLst/>
          </a:prstGeom>
          <a:noFill/>
        </p:spPr>
        <p:txBody>
          <a:bodyPr wrap="square">
            <a:spAutoFit/>
          </a:bodyPr>
          <a:lstStyle/>
          <a:p>
            <a:pPr marL="285750" indent="-285750">
              <a:buFont typeface="Wingdings" panose="05000000000000000000" pitchFamily="2" charset="2"/>
              <a:buChar char="Ø"/>
            </a:pPr>
            <a:r>
              <a:rPr lang="en-US" sz="2200" dirty="0"/>
              <a:t>Churn prediction helps in proactive retention strategies.</a:t>
            </a:r>
            <a:endParaRPr lang="en-IN" sz="2200" dirty="0"/>
          </a:p>
        </p:txBody>
      </p:sp>
      <p:sp>
        <p:nvSpPr>
          <p:cNvPr id="15" name="TextBox 14">
            <a:extLst>
              <a:ext uri="{FF2B5EF4-FFF2-40B4-BE49-F238E27FC236}">
                <a16:creationId xmlns:a16="http://schemas.microsoft.com/office/drawing/2014/main" id="{15809692-E49C-0006-E12E-2AE4DF4B9C16}"/>
              </a:ext>
            </a:extLst>
          </p:cNvPr>
          <p:cNvSpPr txBox="1"/>
          <p:nvPr/>
        </p:nvSpPr>
        <p:spPr>
          <a:xfrm>
            <a:off x="4401597" y="3641879"/>
            <a:ext cx="4343401" cy="584775"/>
          </a:xfrm>
          <a:prstGeom prst="rect">
            <a:avLst/>
          </a:prstGeom>
          <a:noFill/>
        </p:spPr>
        <p:txBody>
          <a:bodyPr wrap="square">
            <a:spAutoFit/>
          </a:bodyPr>
          <a:lstStyle/>
          <a:p>
            <a:pPr algn="ctr"/>
            <a:r>
              <a:rPr lang="en-IN" sz="3200" dirty="0">
                <a:latin typeface="Copperplate Gothic Bold" panose="020E0705020206020404" pitchFamily="34" charset="0"/>
              </a:rPr>
              <a:t>B</a:t>
            </a:r>
            <a:r>
              <a:rPr lang="en-IN" sz="2900" dirty="0">
                <a:latin typeface="Copperplate Gothic Bold" panose="020E0705020206020404" pitchFamily="34" charset="0"/>
              </a:rPr>
              <a:t>usiness </a:t>
            </a:r>
            <a:r>
              <a:rPr lang="en-IN" sz="3200" dirty="0">
                <a:latin typeface="Copperplate Gothic Bold" panose="020E0705020206020404" pitchFamily="34" charset="0"/>
              </a:rPr>
              <a:t>I</a:t>
            </a:r>
            <a:r>
              <a:rPr lang="en-IN" sz="2900" dirty="0">
                <a:latin typeface="Copperplate Gothic Bold" panose="020E0705020206020404" pitchFamily="34" charset="0"/>
              </a:rPr>
              <a:t>mpact:</a:t>
            </a:r>
          </a:p>
        </p:txBody>
      </p:sp>
      <p:pic>
        <p:nvPicPr>
          <p:cNvPr id="16" name="Picture 15">
            <a:extLst>
              <a:ext uri="{FF2B5EF4-FFF2-40B4-BE49-F238E27FC236}">
                <a16:creationId xmlns:a16="http://schemas.microsoft.com/office/drawing/2014/main" id="{96ED6D0F-3EE7-C54E-52D2-76312EE2304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3924026" y="3532227"/>
            <a:ext cx="693884" cy="673564"/>
          </a:xfrm>
          <a:prstGeom prst="rect">
            <a:avLst/>
          </a:prstGeom>
        </p:spPr>
      </p:pic>
      <p:sp>
        <p:nvSpPr>
          <p:cNvPr id="18" name="TextBox 17">
            <a:extLst>
              <a:ext uri="{FF2B5EF4-FFF2-40B4-BE49-F238E27FC236}">
                <a16:creationId xmlns:a16="http://schemas.microsoft.com/office/drawing/2014/main" id="{D3A4E005-17D9-8E3D-102D-416C14936DCB}"/>
              </a:ext>
            </a:extLst>
          </p:cNvPr>
          <p:cNvSpPr txBox="1"/>
          <p:nvPr/>
        </p:nvSpPr>
        <p:spPr>
          <a:xfrm>
            <a:off x="4344487" y="4461278"/>
            <a:ext cx="6278336" cy="430887"/>
          </a:xfrm>
          <a:prstGeom prst="rect">
            <a:avLst/>
          </a:prstGeom>
          <a:noFill/>
        </p:spPr>
        <p:txBody>
          <a:bodyPr wrap="square">
            <a:spAutoFit/>
          </a:bodyPr>
          <a:lstStyle/>
          <a:p>
            <a:pPr marL="285750" indent="-285750">
              <a:buFont typeface="Wingdings" panose="05000000000000000000" pitchFamily="2" charset="2"/>
              <a:buChar char="Ø"/>
            </a:pPr>
            <a:r>
              <a:rPr lang="en-US" sz="2200" dirty="0"/>
              <a:t> Increased Revenue Through Targeted Marketing</a:t>
            </a:r>
          </a:p>
        </p:txBody>
      </p:sp>
      <p:sp>
        <p:nvSpPr>
          <p:cNvPr id="20" name="TextBox 19">
            <a:extLst>
              <a:ext uri="{FF2B5EF4-FFF2-40B4-BE49-F238E27FC236}">
                <a16:creationId xmlns:a16="http://schemas.microsoft.com/office/drawing/2014/main" id="{3BD3E639-EB1D-E070-E0B3-0FEEFA48037E}"/>
              </a:ext>
            </a:extLst>
          </p:cNvPr>
          <p:cNvSpPr txBox="1"/>
          <p:nvPr/>
        </p:nvSpPr>
        <p:spPr>
          <a:xfrm>
            <a:off x="4344487" y="5034638"/>
            <a:ext cx="7470322" cy="430887"/>
          </a:xfrm>
          <a:prstGeom prst="rect">
            <a:avLst/>
          </a:prstGeom>
          <a:noFill/>
        </p:spPr>
        <p:txBody>
          <a:bodyPr wrap="square">
            <a:spAutoFit/>
          </a:bodyPr>
          <a:lstStyle/>
          <a:p>
            <a:pPr marL="285750" indent="-285750">
              <a:buFont typeface="Wingdings" panose="05000000000000000000" pitchFamily="2" charset="2"/>
              <a:buChar char="Ø"/>
            </a:pPr>
            <a:r>
              <a:rPr lang="en-US" sz="2200" dirty="0"/>
              <a:t> Reduced Marketing Costs &amp; Improved Customer Retention</a:t>
            </a:r>
          </a:p>
        </p:txBody>
      </p:sp>
    </p:spTree>
    <p:extLst>
      <p:ext uri="{BB962C8B-B14F-4D97-AF65-F5344CB8AC3E}">
        <p14:creationId xmlns:p14="http://schemas.microsoft.com/office/powerpoint/2010/main" val="3514990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92FA1-436F-B36A-B944-AC81BF349D00}"/>
              </a:ext>
            </a:extLst>
          </p:cNvPr>
          <p:cNvSpPr>
            <a:spLocks noGrp="1"/>
          </p:cNvSpPr>
          <p:nvPr>
            <p:ph type="title"/>
          </p:nvPr>
        </p:nvSpPr>
        <p:spPr>
          <a:xfrm>
            <a:off x="286998" y="293423"/>
            <a:ext cx="10834234" cy="612775"/>
          </a:xfrm>
        </p:spPr>
        <p:txBody>
          <a:bodyPr>
            <a:noAutofit/>
          </a:bodyPr>
          <a:lstStyle/>
          <a:p>
            <a:r>
              <a:rPr lang="en-US" sz="5000" dirty="0"/>
              <a:t>Actionable Recommendations:</a:t>
            </a:r>
            <a:endParaRPr lang="en-IN" sz="5000" dirty="0"/>
          </a:p>
        </p:txBody>
      </p:sp>
      <p:sp>
        <p:nvSpPr>
          <p:cNvPr id="6" name="Freeform 2">
            <a:extLst>
              <a:ext uri="{FF2B5EF4-FFF2-40B4-BE49-F238E27FC236}">
                <a16:creationId xmlns:a16="http://schemas.microsoft.com/office/drawing/2014/main" id="{097668BE-4E1A-6CFA-6C66-D9A26AD464A1}"/>
              </a:ext>
            </a:extLst>
          </p:cNvPr>
          <p:cNvSpPr/>
          <p:nvPr/>
        </p:nvSpPr>
        <p:spPr>
          <a:xfrm rot="5400000">
            <a:off x="8375721" y="-2279722"/>
            <a:ext cx="1536557" cy="6096002"/>
          </a:xfrm>
          <a:custGeom>
            <a:avLst/>
            <a:gdLst/>
            <a:ahLst/>
            <a:cxnLst/>
            <a:rect l="l" t="t" r="r" b="b"/>
            <a:pathLst>
              <a:path w="4991149" h="7541571">
                <a:moveTo>
                  <a:pt x="0" y="0"/>
                </a:moveTo>
                <a:lnTo>
                  <a:pt x="4991149" y="0"/>
                </a:lnTo>
                <a:lnTo>
                  <a:pt x="4991149" y="7541572"/>
                </a:lnTo>
                <a:lnTo>
                  <a:pt x="0" y="7541572"/>
                </a:lnTo>
                <a:lnTo>
                  <a:pt x="0" y="0"/>
                </a:lnTo>
                <a:close/>
              </a:path>
            </a:pathLst>
          </a:custGeom>
          <a:blipFill dpi="0" rotWithShape="1">
            <a:blip r:embed="rId2">
              <a:alphaModFix amt="24000"/>
              <a:extLst>
                <a:ext uri="{96DAC541-7B7A-43D3-8B79-37D633B846F1}">
                  <asvg:svgBlip xmlns:asvg="http://schemas.microsoft.com/office/drawing/2016/SVG/main" r:embed="rId3"/>
                </a:ext>
              </a:extLst>
            </a:blip>
            <a:srcRect/>
            <a:stretch>
              <a:fillRect l="-224827" t="-23713" b="1"/>
            </a:stretch>
          </a:blipFill>
        </p:spPr>
        <p:txBody>
          <a:bodyPr/>
          <a:lstStyle/>
          <a:p>
            <a:endParaRPr lang="en-IN"/>
          </a:p>
        </p:txBody>
      </p:sp>
      <p:sp>
        <p:nvSpPr>
          <p:cNvPr id="8" name="TextBox 7">
            <a:extLst>
              <a:ext uri="{FF2B5EF4-FFF2-40B4-BE49-F238E27FC236}">
                <a16:creationId xmlns:a16="http://schemas.microsoft.com/office/drawing/2014/main" id="{6E9ED4BE-750E-03B5-A317-1DB8BCF014AC}"/>
              </a:ext>
            </a:extLst>
          </p:cNvPr>
          <p:cNvSpPr txBox="1"/>
          <p:nvPr/>
        </p:nvSpPr>
        <p:spPr>
          <a:xfrm>
            <a:off x="-721176" y="1180545"/>
            <a:ext cx="6147706" cy="461665"/>
          </a:xfrm>
          <a:prstGeom prst="rect">
            <a:avLst/>
          </a:prstGeom>
          <a:noFill/>
        </p:spPr>
        <p:txBody>
          <a:bodyPr wrap="square">
            <a:spAutoFit/>
          </a:bodyPr>
          <a:lstStyle/>
          <a:p>
            <a:pPr algn="ctr"/>
            <a:r>
              <a:rPr lang="en-IN" sz="2400" dirty="0">
                <a:ln w="0"/>
                <a:solidFill>
                  <a:schemeClr val="accent1"/>
                </a:solidFill>
                <a:effectLst>
                  <a:outerShdw blurRad="38100" dist="25400" dir="5400000" algn="ctr" rotWithShape="0">
                    <a:srgbClr val="6E747A">
                      <a:alpha val="43000"/>
                    </a:srgbClr>
                  </a:outerShdw>
                </a:effectLst>
                <a:latin typeface="Bookman Old Style" panose="02050604050505020204" pitchFamily="18" charset="0"/>
              </a:rPr>
              <a:t>From RFM Analysis:</a:t>
            </a:r>
          </a:p>
        </p:txBody>
      </p:sp>
      <p:sp>
        <p:nvSpPr>
          <p:cNvPr id="10" name="TextBox 9">
            <a:extLst>
              <a:ext uri="{FF2B5EF4-FFF2-40B4-BE49-F238E27FC236}">
                <a16:creationId xmlns:a16="http://schemas.microsoft.com/office/drawing/2014/main" id="{4EE46DBE-1C94-D2EA-6AF5-EB3FDAB4892E}"/>
              </a:ext>
            </a:extLst>
          </p:cNvPr>
          <p:cNvSpPr txBox="1"/>
          <p:nvPr/>
        </p:nvSpPr>
        <p:spPr>
          <a:xfrm>
            <a:off x="866774" y="1700502"/>
            <a:ext cx="10458448" cy="769441"/>
          </a:xfrm>
          <a:prstGeom prst="rect">
            <a:avLst/>
          </a:prstGeom>
          <a:noFill/>
        </p:spPr>
        <p:txBody>
          <a:bodyPr wrap="square">
            <a:spAutoFit/>
          </a:bodyPr>
          <a:lstStyle/>
          <a:p>
            <a:pPr marL="342900" indent="-342900">
              <a:buFont typeface="Wingdings" panose="05000000000000000000" pitchFamily="2" charset="2"/>
              <a:buChar char="Ø"/>
            </a:pPr>
            <a:r>
              <a:rPr lang="en-US" sz="2200" dirty="0"/>
              <a:t>RFM focuses on </a:t>
            </a:r>
            <a:r>
              <a:rPr lang="en-US" sz="2200" b="1" dirty="0"/>
              <a:t>Recency (R)</a:t>
            </a:r>
            <a:r>
              <a:rPr lang="en-US" sz="2200" dirty="0"/>
              <a:t>, </a:t>
            </a:r>
            <a:r>
              <a:rPr lang="en-US" sz="2200" b="1" dirty="0"/>
              <a:t>Frequency (F)</a:t>
            </a:r>
            <a:r>
              <a:rPr lang="en-US" sz="2200" dirty="0"/>
              <a:t>, and </a:t>
            </a:r>
            <a:r>
              <a:rPr lang="en-US" sz="2200" b="1" dirty="0"/>
              <a:t>Monetary value (M)</a:t>
            </a:r>
            <a:r>
              <a:rPr lang="en-US" sz="2200" dirty="0"/>
              <a:t> — each gives </a:t>
            </a:r>
            <a:r>
              <a:rPr lang="en-US" sz="2200" i="1" dirty="0"/>
              <a:t>direct business levers</a:t>
            </a:r>
            <a:r>
              <a:rPr lang="en-US" sz="2200" dirty="0"/>
              <a:t>.</a:t>
            </a:r>
            <a:endParaRPr lang="en-IN" sz="2200" dirty="0"/>
          </a:p>
        </p:txBody>
      </p:sp>
      <p:sp>
        <p:nvSpPr>
          <p:cNvPr id="12" name="TextBox 11">
            <a:extLst>
              <a:ext uri="{FF2B5EF4-FFF2-40B4-BE49-F238E27FC236}">
                <a16:creationId xmlns:a16="http://schemas.microsoft.com/office/drawing/2014/main" id="{EE858828-2DE6-CF26-5C85-EC99CBCBE64B}"/>
              </a:ext>
            </a:extLst>
          </p:cNvPr>
          <p:cNvSpPr txBox="1"/>
          <p:nvPr/>
        </p:nvSpPr>
        <p:spPr>
          <a:xfrm>
            <a:off x="866774" y="2509159"/>
            <a:ext cx="10254458" cy="1046440"/>
          </a:xfrm>
          <a:prstGeom prst="rect">
            <a:avLst/>
          </a:prstGeom>
          <a:noFill/>
        </p:spPr>
        <p:txBody>
          <a:bodyPr wrap="square">
            <a:spAutoFit/>
          </a:bodyPr>
          <a:lstStyle/>
          <a:p>
            <a:pPr marL="342900" indent="-342900">
              <a:buFont typeface="Wingdings" panose="05000000000000000000" pitchFamily="2" charset="2"/>
              <a:buChar char="Ø"/>
            </a:pPr>
            <a:r>
              <a:rPr lang="en-US" sz="2200" b="0" dirty="0"/>
              <a:t>Retain loyal customers with VIP programs and </a:t>
            </a:r>
            <a:r>
              <a:rPr lang="en-US" sz="2200" dirty="0"/>
              <a:t>Re-engage at-risk customers with targeted campaigns.</a:t>
            </a:r>
            <a:endParaRPr lang="en-IN" sz="2200" dirty="0"/>
          </a:p>
          <a:p>
            <a:endParaRPr lang="en-IN" sz="1800" b="0" dirty="0"/>
          </a:p>
        </p:txBody>
      </p:sp>
      <p:sp>
        <p:nvSpPr>
          <p:cNvPr id="14" name="TextBox 13">
            <a:extLst>
              <a:ext uri="{FF2B5EF4-FFF2-40B4-BE49-F238E27FC236}">
                <a16:creationId xmlns:a16="http://schemas.microsoft.com/office/drawing/2014/main" id="{E2A91DB3-3E0F-D886-29D9-EB5C4E6F7AF7}"/>
              </a:ext>
            </a:extLst>
          </p:cNvPr>
          <p:cNvSpPr txBox="1"/>
          <p:nvPr/>
        </p:nvSpPr>
        <p:spPr>
          <a:xfrm>
            <a:off x="-1113062" y="3359329"/>
            <a:ext cx="6539592" cy="461665"/>
          </a:xfrm>
          <a:prstGeom prst="rect">
            <a:avLst/>
          </a:prstGeom>
          <a:noFill/>
        </p:spPr>
        <p:txBody>
          <a:bodyPr wrap="square">
            <a:spAutoFit/>
          </a:bodyPr>
          <a:lstStyle/>
          <a:p>
            <a:pPr algn="ctr"/>
            <a:r>
              <a:rPr lang="en-IN" sz="2400" dirty="0">
                <a:solidFill>
                  <a:srgbClr val="626CC7"/>
                </a:solidFill>
                <a:effectLst>
                  <a:outerShdw blurRad="38100" dist="38100" dir="2700000" algn="tl">
                    <a:srgbClr val="000000">
                      <a:alpha val="43137"/>
                    </a:srgbClr>
                  </a:outerShdw>
                </a:effectLst>
                <a:latin typeface="Bookman Old Style" panose="02050604050505020204" pitchFamily="18" charset="0"/>
              </a:rPr>
              <a:t>From Clustering:</a:t>
            </a:r>
          </a:p>
        </p:txBody>
      </p:sp>
      <p:sp>
        <p:nvSpPr>
          <p:cNvPr id="16" name="TextBox 15">
            <a:extLst>
              <a:ext uri="{FF2B5EF4-FFF2-40B4-BE49-F238E27FC236}">
                <a16:creationId xmlns:a16="http://schemas.microsoft.com/office/drawing/2014/main" id="{5C46FE42-83CF-EB6C-8F35-30A065F6E727}"/>
              </a:ext>
            </a:extLst>
          </p:cNvPr>
          <p:cNvSpPr txBox="1"/>
          <p:nvPr/>
        </p:nvSpPr>
        <p:spPr>
          <a:xfrm>
            <a:off x="938213" y="3846737"/>
            <a:ext cx="9531803" cy="769441"/>
          </a:xfrm>
          <a:prstGeom prst="rect">
            <a:avLst/>
          </a:prstGeom>
          <a:noFill/>
        </p:spPr>
        <p:txBody>
          <a:bodyPr wrap="square">
            <a:spAutoFit/>
          </a:bodyPr>
          <a:lstStyle/>
          <a:p>
            <a:pPr marL="342900" indent="-342900">
              <a:buFont typeface="Wingdings" panose="05000000000000000000" pitchFamily="2" charset="2"/>
              <a:buChar char="Ø"/>
            </a:pPr>
            <a:r>
              <a:rPr lang="en-US" sz="2200" dirty="0"/>
              <a:t>Clustering groups customers with </a:t>
            </a:r>
            <a:r>
              <a:rPr lang="en-US" sz="2200" b="1" dirty="0"/>
              <a:t>similar overall behavior</a:t>
            </a:r>
            <a:r>
              <a:rPr lang="en-US" sz="2200" dirty="0"/>
              <a:t>, enabling </a:t>
            </a:r>
            <a:r>
              <a:rPr lang="en-US" sz="2200" i="1" dirty="0"/>
              <a:t>segment-level strategies</a:t>
            </a:r>
            <a:r>
              <a:rPr lang="en-US" sz="2200" dirty="0"/>
              <a:t>.</a:t>
            </a:r>
          </a:p>
        </p:txBody>
      </p:sp>
      <p:sp>
        <p:nvSpPr>
          <p:cNvPr id="18" name="TextBox 17">
            <a:extLst>
              <a:ext uri="{FF2B5EF4-FFF2-40B4-BE49-F238E27FC236}">
                <a16:creationId xmlns:a16="http://schemas.microsoft.com/office/drawing/2014/main" id="{8C6C3FB6-3033-25E8-286A-C8D67CEA743D}"/>
              </a:ext>
            </a:extLst>
          </p:cNvPr>
          <p:cNvSpPr txBox="1"/>
          <p:nvPr/>
        </p:nvSpPr>
        <p:spPr>
          <a:xfrm>
            <a:off x="938213" y="4680470"/>
            <a:ext cx="11112273" cy="1046440"/>
          </a:xfrm>
          <a:prstGeom prst="rect">
            <a:avLst/>
          </a:prstGeom>
          <a:noFill/>
        </p:spPr>
        <p:txBody>
          <a:bodyPr wrap="square">
            <a:spAutoFit/>
          </a:bodyPr>
          <a:lstStyle/>
          <a:p>
            <a:pPr marL="285750" indent="-285750">
              <a:buFont typeface="Wingdings" panose="05000000000000000000" pitchFamily="2" charset="2"/>
              <a:buChar char="Ø"/>
            </a:pPr>
            <a:r>
              <a:rPr lang="en-US" sz="2200"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Focus on high-value clusters with exclusive offers and Reactivate declining clusters with personalized incentives.</a:t>
            </a:r>
          </a:p>
          <a:p>
            <a:pPr marL="285750" indent="-285750">
              <a:buFont typeface="Wingdings" panose="05000000000000000000" pitchFamily="2" charset="2"/>
              <a:buChar char="Ø"/>
            </a:pPr>
            <a:endParaRPr lang="en-US" sz="1800"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8F70A6B2-A030-B965-5418-31549B2FDDE4}"/>
              </a:ext>
            </a:extLst>
          </p:cNvPr>
          <p:cNvSpPr txBox="1"/>
          <p:nvPr/>
        </p:nvSpPr>
        <p:spPr>
          <a:xfrm>
            <a:off x="-639538" y="5402521"/>
            <a:ext cx="6735536" cy="461665"/>
          </a:xfrm>
          <a:prstGeom prst="rect">
            <a:avLst/>
          </a:prstGeom>
          <a:noFill/>
        </p:spPr>
        <p:txBody>
          <a:bodyPr wrap="square">
            <a:spAutoFit/>
          </a:bodyPr>
          <a:lstStyle/>
          <a:p>
            <a:pPr algn="ctr"/>
            <a:r>
              <a:rPr lang="en-IN" sz="2400" b="1" dirty="0">
                <a:ln>
                  <a:solidFill>
                    <a:schemeClr val="accent1">
                      <a:lumMod val="20000"/>
                      <a:lumOff val="80000"/>
                    </a:schemeClr>
                  </a:solidFill>
                </a:ln>
                <a:solidFill>
                  <a:schemeClr val="tx1">
                    <a:lumMod val="50000"/>
                    <a:lumOff val="50000"/>
                  </a:schemeClr>
                </a:solidFill>
                <a:latin typeface="Bookman Old Style" panose="02050604050505020204" pitchFamily="18" charset="0"/>
              </a:rPr>
              <a:t>From Churn Prediction:</a:t>
            </a:r>
          </a:p>
        </p:txBody>
      </p:sp>
      <p:sp>
        <p:nvSpPr>
          <p:cNvPr id="22" name="TextBox 21">
            <a:extLst>
              <a:ext uri="{FF2B5EF4-FFF2-40B4-BE49-F238E27FC236}">
                <a16:creationId xmlns:a16="http://schemas.microsoft.com/office/drawing/2014/main" id="{5C039709-8FD1-2DB4-59FF-253A8AB95BDF}"/>
              </a:ext>
            </a:extLst>
          </p:cNvPr>
          <p:cNvSpPr txBox="1"/>
          <p:nvPr/>
        </p:nvSpPr>
        <p:spPr>
          <a:xfrm>
            <a:off x="938212" y="5778396"/>
            <a:ext cx="9691688" cy="430887"/>
          </a:xfrm>
          <a:prstGeom prst="rect">
            <a:avLst/>
          </a:prstGeom>
          <a:noFill/>
        </p:spPr>
        <p:txBody>
          <a:bodyPr wrap="square">
            <a:spAutoFit/>
          </a:bodyPr>
          <a:lstStyle/>
          <a:p>
            <a:pPr marL="342900" indent="-342900">
              <a:buFont typeface="Wingdings" panose="05000000000000000000" pitchFamily="2" charset="2"/>
              <a:buChar char="Ø"/>
            </a:pPr>
            <a:r>
              <a:rPr lang="en-US" sz="2200" dirty="0">
                <a:solidFill>
                  <a:schemeClr val="bg2">
                    <a:lumMod val="10000"/>
                  </a:schemeClr>
                </a:solidFill>
              </a:rPr>
              <a:t>Churn prediction enables </a:t>
            </a:r>
            <a:r>
              <a:rPr lang="en-US" sz="2200" b="1" dirty="0">
                <a:solidFill>
                  <a:schemeClr val="bg2">
                    <a:lumMod val="10000"/>
                  </a:schemeClr>
                </a:solidFill>
              </a:rPr>
              <a:t>proactive intervention</a:t>
            </a:r>
            <a:r>
              <a:rPr lang="en-US" sz="2200" dirty="0">
                <a:solidFill>
                  <a:schemeClr val="bg2">
                    <a:lumMod val="10000"/>
                  </a:schemeClr>
                </a:solidFill>
              </a:rPr>
              <a:t> instead of reactive analysis.</a:t>
            </a:r>
          </a:p>
        </p:txBody>
      </p:sp>
      <p:pic>
        <p:nvPicPr>
          <p:cNvPr id="23" name="Picture 22">
            <a:extLst>
              <a:ext uri="{FF2B5EF4-FFF2-40B4-BE49-F238E27FC236}">
                <a16:creationId xmlns:a16="http://schemas.microsoft.com/office/drawing/2014/main" id="{DF0749DC-ED66-86C4-FB94-288509856F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9822" y="1179351"/>
            <a:ext cx="521151" cy="521151"/>
          </a:xfrm>
          <a:prstGeom prst="rect">
            <a:avLst/>
          </a:prstGeom>
          <a:effectLst>
            <a:glow rad="63500">
              <a:schemeClr val="accent3">
                <a:satMod val="175000"/>
                <a:alpha val="40000"/>
              </a:schemeClr>
            </a:glow>
          </a:effectLst>
        </p:spPr>
      </p:pic>
      <p:pic>
        <p:nvPicPr>
          <p:cNvPr id="24" name="Picture 23">
            <a:extLst>
              <a:ext uri="{FF2B5EF4-FFF2-40B4-BE49-F238E27FC236}">
                <a16:creationId xmlns:a16="http://schemas.microsoft.com/office/drawing/2014/main" id="{6FAC96E1-5D81-C340-C6E9-D6AD8E09DD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9822" y="3334238"/>
            <a:ext cx="521152" cy="521152"/>
          </a:xfrm>
          <a:prstGeom prst="rect">
            <a:avLst/>
          </a:prstGeom>
          <a:effectLst>
            <a:outerShdw blurRad="50800" dist="38100" dir="2700000" algn="tl" rotWithShape="0">
              <a:prstClr val="black">
                <a:alpha val="40000"/>
              </a:prstClr>
            </a:outerShdw>
          </a:effectLst>
        </p:spPr>
      </p:pic>
      <p:pic>
        <p:nvPicPr>
          <p:cNvPr id="25" name="Picture 24">
            <a:extLst>
              <a:ext uri="{FF2B5EF4-FFF2-40B4-BE49-F238E27FC236}">
                <a16:creationId xmlns:a16="http://schemas.microsoft.com/office/drawing/2014/main" id="{68550412-5B94-A011-7205-508ADEC4772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1514" y="5266768"/>
            <a:ext cx="569459" cy="569459"/>
          </a:xfrm>
          <a:prstGeom prst="rect">
            <a:avLst/>
          </a:prstGeom>
          <a:effectLst>
            <a:glow rad="63500">
              <a:schemeClr val="accent4">
                <a:satMod val="175000"/>
                <a:alpha val="40000"/>
              </a:schemeClr>
            </a:glow>
          </a:effectLst>
        </p:spPr>
      </p:pic>
    </p:spTree>
    <p:extLst>
      <p:ext uri="{BB962C8B-B14F-4D97-AF65-F5344CB8AC3E}">
        <p14:creationId xmlns:p14="http://schemas.microsoft.com/office/powerpoint/2010/main" val="1185104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9989</TotalTime>
  <Words>818</Words>
  <Application>Microsoft Office PowerPoint</Application>
  <PresentationFormat>Widescreen</PresentationFormat>
  <Paragraphs>182</Paragraphs>
  <Slides>22</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Arial</vt:lpstr>
      <vt:lpstr>Bookman Old Style</vt:lpstr>
      <vt:lpstr>Calibri</vt:lpstr>
      <vt:lpstr>Century</vt:lpstr>
      <vt:lpstr>Century Gothic</vt:lpstr>
      <vt:lpstr>Copperplate Gothic Bold</vt:lpstr>
      <vt:lpstr>Goudy Old Style</vt:lpstr>
      <vt:lpstr>Inter</vt:lpstr>
      <vt:lpstr>Merriweather</vt:lpstr>
      <vt:lpstr>Rockwell</vt:lpstr>
      <vt:lpstr>Times New Roman</vt:lpstr>
      <vt:lpstr>Wingdings</vt:lpstr>
      <vt:lpstr>BIA Template</vt:lpstr>
      <vt:lpstr>PowerPoint Presentation</vt:lpstr>
      <vt:lpstr>E-commerce Customer Segmentation and Prediction </vt:lpstr>
      <vt:lpstr>Agenda</vt:lpstr>
      <vt:lpstr>Introduction</vt:lpstr>
      <vt:lpstr>PowerPoint Presentation</vt:lpstr>
      <vt:lpstr>Data Fields:</vt:lpstr>
      <vt:lpstr>02. Data Preprocessing</vt:lpstr>
      <vt:lpstr>PowerPoint Presentation</vt:lpstr>
      <vt:lpstr>PowerPoint Presentation</vt:lpstr>
      <vt:lpstr>PowerPoint Presentation</vt:lpstr>
      <vt:lpstr>04. Feature Engineering</vt:lpstr>
      <vt:lpstr>PowerPoint Presentation</vt:lpstr>
      <vt:lpstr>05. RFM Analysis</vt:lpstr>
      <vt:lpstr>PowerPoint Presentation</vt:lpstr>
      <vt:lpstr>Clustering Analysis</vt:lpstr>
      <vt:lpstr>07. Churn Prediction</vt:lpstr>
      <vt:lpstr>PowerPoint Presentation</vt:lpstr>
      <vt:lpstr>PowerPoint Presentation</vt:lpstr>
      <vt:lpstr>Conclusion </vt:lpstr>
      <vt:lpstr>Actionable Recommendations: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Raghav B</cp:lastModifiedBy>
  <cp:revision>2270</cp:revision>
  <dcterms:created xsi:type="dcterms:W3CDTF">2020-12-23T13:36:00Z</dcterms:created>
  <dcterms:modified xsi:type="dcterms:W3CDTF">2025-12-25T04:50:22Z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